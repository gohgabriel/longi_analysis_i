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760720"/>
            <a:ext cx="12188952" cy="1097280"/>
          </a:xfrm>
          <a:prstGeom prst="rect">
            <a:avLst/>
          </a:prstGeom>
          <a:solidFill>
            <a:srgbClr val="0D93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332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</a:rPr>
              <a:t>Longitudinal Data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02336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B0C8E8"/>
                </a:solidFill>
              </a:rPr>
              <a:t>A practical course for programme evaluators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D93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560320"/>
            <a:ext cx="108813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A355E"/>
                </a:solidFill>
              </a:rPr>
              <a:t>Section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749039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2B6CB0"/>
                </a:solidFill>
              </a:rPr>
              <a:t>Basics of Longitudinal Data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What is Longitudinal Data?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88952" cy="54864"/>
          </a:xfrm>
          <a:prstGeom prst="rect">
            <a:avLst/>
          </a:prstGeom>
          <a:solidFill>
            <a:srgbClr val="0D93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900" b="1">
                <a:solidFill>
                  <a:srgbClr val="1A355E"/>
                </a:solidFill>
              </a:rPr>
              <a:t>• Data collected from the same subjects at multiple time points</a:t>
            </a:r>
          </a:p>
          <a:p>
            <a:pPr lvl="1">
              <a:spcBef>
                <a:spcPts val="200"/>
              </a:spcBef>
            </a:pPr>
            <a:r>
              <a:rPr sz="1600" b="0">
                <a:solidFill>
                  <a:srgbClr val="445566"/>
                </a:solidFill>
              </a:rPr>
              <a:t>  – Contrast with cross-sectional data — different people, one snapshot</a:t>
            </a:r>
          </a:p>
          <a:p>
            <a:pPr lvl="1">
              <a:spcBef>
                <a:spcPts val="200"/>
              </a:spcBef>
            </a:pPr>
            <a:r>
              <a:rPr sz="1600" b="0">
                <a:solidFill>
                  <a:srgbClr val="445566"/>
                </a:solidFill>
              </a:rPr>
              <a:t>  – Key feature: within-person variation across time</a:t>
            </a:r>
          </a:p>
          <a:p>
            <a:pPr>
              <a:spcBef>
                <a:spcPts val="500"/>
              </a:spcBef>
            </a:pPr>
            <a:r>
              <a:rPr sz="1900" b="1">
                <a:solidFill>
                  <a:srgbClr val="1A355E"/>
                </a:solidFill>
              </a:rPr>
              <a:t>• Why it matters for programme evaluation</a:t>
            </a:r>
          </a:p>
          <a:p>
            <a:pPr lvl="1">
              <a:spcBef>
                <a:spcPts val="200"/>
              </a:spcBef>
            </a:pPr>
            <a:r>
              <a:rPr sz="1600" b="0">
                <a:solidFill>
                  <a:srgbClr val="445566"/>
                </a:solidFill>
              </a:rPr>
              <a:t>  – A child measured before and after an intervention is not two independent observations</a:t>
            </a:r>
          </a:p>
          <a:p>
            <a:pPr lvl="1">
              <a:spcBef>
                <a:spcPts val="200"/>
              </a:spcBef>
            </a:pPr>
            <a:r>
              <a:rPr sz="1600" b="0">
                <a:solidFill>
                  <a:srgbClr val="445566"/>
                </a:solidFill>
              </a:rPr>
              <a:t>  – Within-person correlation is signal, not noise — and must be accounted for</a:t>
            </a:r>
          </a:p>
          <a:p>
            <a:pPr>
              <a:spcBef>
                <a:spcPts val="500"/>
              </a:spcBef>
            </a:pPr>
            <a:r>
              <a:rPr sz="1900" b="1">
                <a:solidFill>
                  <a:srgbClr val="1A355E"/>
                </a:solidFill>
              </a:rPr>
              <a:t>• Core challenge of all methods in this course</a:t>
            </a:r>
          </a:p>
          <a:p>
            <a:pPr lvl="1">
              <a:spcBef>
                <a:spcPts val="200"/>
              </a:spcBef>
            </a:pPr>
            <a:r>
              <a:rPr sz="1600" b="0">
                <a:solidFill>
                  <a:srgbClr val="445566"/>
                </a:solidFill>
              </a:rPr>
              <a:t>  – OLS assumes observations are independent — longitudinal data structurally violates this</a:t>
            </a:r>
          </a:p>
          <a:p>
            <a:pPr lvl="1">
              <a:spcBef>
                <a:spcPts val="200"/>
              </a:spcBef>
            </a:pPr>
            <a:r>
              <a:rPr sz="1600" b="0">
                <a:solidFill>
                  <a:srgbClr val="445566"/>
                </a:solidFill>
              </a:rPr>
              <a:t>  – Getting standard errors wrong means p-values and CIs cannot be trusted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D93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560320"/>
            <a:ext cx="108813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A355E"/>
                </a:solidFill>
              </a:rPr>
              <a:t>Chapter 1.2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749039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2B6CB0"/>
                </a:solidFill>
              </a:rPr>
              <a:t>The APCES Framework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APCES: A Unified Lens for Any Statistical Method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88952" cy="54864"/>
          </a:xfrm>
          <a:prstGeom prst="rect">
            <a:avLst/>
          </a:prstGeom>
          <a:solidFill>
            <a:srgbClr val="0D93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900" b="1">
                <a:solidFill>
                  <a:srgbClr val="1A355E"/>
                </a:solidFill>
              </a:rPr>
              <a:t>• Every data analysis method can be understood through five components</a:t>
            </a:r>
          </a:p>
          <a:p>
            <a:pPr lvl="1">
              <a:spcBef>
                <a:spcPts val="200"/>
              </a:spcBef>
            </a:pPr>
            <a:r>
              <a:rPr sz="1600" b="0">
                <a:solidFill>
                  <a:srgbClr val="445566"/>
                </a:solidFill>
              </a:rPr>
              <a:t>  – A — Architecture: your assumptions about how the world generates data</a:t>
            </a:r>
          </a:p>
          <a:p>
            <a:pPr lvl="1">
              <a:spcBef>
                <a:spcPts val="200"/>
              </a:spcBef>
            </a:pPr>
            <a:r>
              <a:rPr sz="1600" b="0">
                <a:solidFill>
                  <a:srgbClr val="445566"/>
                </a:solidFill>
              </a:rPr>
              <a:t>  – P — Parameters: the unknown quantities you want to estimate</a:t>
            </a:r>
          </a:p>
          <a:p>
            <a:pPr lvl="1">
              <a:spcBef>
                <a:spcPts val="200"/>
              </a:spcBef>
            </a:pPr>
            <a:r>
              <a:rPr sz="1600" b="0">
                <a:solidFill>
                  <a:srgbClr val="445566"/>
                </a:solidFill>
              </a:rPr>
              <a:t>  – C — Criterion: the scoring rule that defines 'good' estimation</a:t>
            </a:r>
          </a:p>
          <a:p>
            <a:pPr lvl="1">
              <a:spcBef>
                <a:spcPts val="200"/>
              </a:spcBef>
            </a:pPr>
            <a:r>
              <a:rPr sz="1600" b="0">
                <a:solidFill>
                  <a:srgbClr val="445566"/>
                </a:solidFill>
              </a:rPr>
              <a:t>  – E — Estimator: the formula that maps data to parameter values</a:t>
            </a:r>
          </a:p>
          <a:p>
            <a:pPr lvl="1">
              <a:spcBef>
                <a:spcPts val="200"/>
              </a:spcBef>
            </a:pPr>
            <a:r>
              <a:rPr sz="1600" b="0">
                <a:solidFill>
                  <a:srgbClr val="445566"/>
                </a:solidFill>
              </a:rPr>
              <a:t>  – S — Solver: the computational procedure that actually finds the answer</a:t>
            </a:r>
          </a:p>
          <a:p>
            <a:pPr>
              <a:spcBef>
                <a:spcPts val="500"/>
              </a:spcBef>
            </a:pPr>
            <a:r>
              <a:rPr sz="1900" b="1">
                <a:solidFill>
                  <a:srgbClr val="1A355E"/>
                </a:solidFill>
              </a:rPr>
              <a:t>• Why APCES?</a:t>
            </a:r>
          </a:p>
          <a:p>
            <a:pPr lvl="1">
              <a:spcBef>
                <a:spcPts val="200"/>
              </a:spcBef>
            </a:pPr>
            <a:r>
              <a:rPr sz="1600" b="0">
                <a:solidFill>
                  <a:srgbClr val="445566"/>
                </a:solidFill>
              </a:rPr>
              <a:t>  – Change one component and the whole method changes</a:t>
            </a:r>
          </a:p>
          <a:p>
            <a:pPr lvl="1">
              <a:spcBef>
                <a:spcPts val="200"/>
              </a:spcBef>
            </a:pPr>
            <a:r>
              <a:rPr sz="1600" b="0">
                <a:solidFill>
                  <a:srgbClr val="445566"/>
                </a:solidFill>
              </a:rPr>
              <a:t>  – Makes it easy to compare OLS, GLS, multilevel models, and Bayes side by side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A —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88952" cy="54864"/>
          </a:xfrm>
          <a:prstGeom prst="rect">
            <a:avLst/>
          </a:prstGeom>
          <a:solidFill>
            <a:srgbClr val="0D93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900" b="1">
                <a:solidFill>
                  <a:srgbClr val="1A355E"/>
                </a:solidFill>
              </a:rPr>
              <a:t>• The working theory of how your data was generated</a:t>
            </a:r>
          </a:p>
          <a:p>
            <a:pPr lvl="1">
              <a:spcBef>
                <a:spcPts val="200"/>
              </a:spcBef>
            </a:pPr>
            <a:r>
              <a:rPr sz="1600" b="0">
                <a:solidFill>
                  <a:srgbClr val="445566"/>
                </a:solidFill>
              </a:rPr>
              <a:t>  – Written as an equation: e.g.  y = β₀ + β₁·time + ε</a:t>
            </a:r>
          </a:p>
          <a:p>
            <a:pPr lvl="1">
              <a:spcBef>
                <a:spcPts val="200"/>
              </a:spcBef>
            </a:pPr>
            <a:r>
              <a:rPr sz="1600" b="0">
                <a:solidFill>
                  <a:srgbClr val="445566"/>
                </a:solidFill>
              </a:rPr>
              <a:t>  – Specifies functional form and how errors behave</a:t>
            </a:r>
          </a:p>
          <a:p>
            <a:pPr>
              <a:spcBef>
                <a:spcPts val="500"/>
              </a:spcBef>
            </a:pPr>
            <a:r>
              <a:rPr sz="1900" b="1">
                <a:solidFill>
                  <a:srgbClr val="1A355E"/>
                </a:solidFill>
              </a:rPr>
              <a:t>• Key: the true parameter θ_true is never directly observable</a:t>
            </a:r>
          </a:p>
          <a:p>
            <a:pPr lvl="1">
              <a:spcBef>
                <a:spcPts val="200"/>
              </a:spcBef>
            </a:pPr>
            <a:r>
              <a:rPr sz="1600" b="0">
                <a:solidFill>
                  <a:srgbClr val="445566"/>
                </a:solidFill>
              </a:rPr>
              <a:t>  – We reverse-engineer it from sample data</a:t>
            </a:r>
          </a:p>
          <a:p>
            <a:pPr lvl="1">
              <a:spcBef>
                <a:spcPts val="200"/>
              </a:spcBef>
            </a:pPr>
            <a:r>
              <a:rPr sz="1600" b="0">
                <a:solidFill>
                  <a:srgbClr val="445566"/>
                </a:solidFill>
              </a:rPr>
              <a:t>  – Different architectures → different estimation strategies</a:t>
            </a:r>
          </a:p>
          <a:p>
            <a:pPr>
              <a:spcBef>
                <a:spcPts val="500"/>
              </a:spcBef>
            </a:pPr>
            <a:r>
              <a:rPr sz="1900" b="1">
                <a:solidFill>
                  <a:srgbClr val="1A355E"/>
                </a:solidFill>
              </a:rPr>
              <a:t>• Example: assuming ε ~ N(0, σ²) means errors are independent and equally spread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P — Parameters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88952" cy="54864"/>
          </a:xfrm>
          <a:prstGeom prst="rect">
            <a:avLst/>
          </a:prstGeom>
          <a:solidFill>
            <a:srgbClr val="0D93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900" b="1">
                <a:solidFill>
                  <a:srgbClr val="1A355E"/>
                </a:solidFill>
              </a:rPr>
              <a:t>• The unknowns that, once pinned down, fully describe the model</a:t>
            </a:r>
          </a:p>
          <a:p>
            <a:pPr lvl="1">
              <a:spcBef>
                <a:spcPts val="200"/>
              </a:spcBef>
            </a:pPr>
            <a:r>
              <a:rPr sz="1600" b="0">
                <a:solidFill>
                  <a:srgbClr val="445566"/>
                </a:solidFill>
              </a:rPr>
              <a:t>  – θ_true: the real population value (never observed)</a:t>
            </a:r>
          </a:p>
          <a:p>
            <a:pPr lvl="1">
              <a:spcBef>
                <a:spcPts val="200"/>
              </a:spcBef>
            </a:pPr>
            <a:r>
              <a:rPr sz="1600" b="0">
                <a:solidFill>
                  <a:srgbClr val="445566"/>
                </a:solidFill>
              </a:rPr>
              <a:t>  – θ̂ (theta-hat): our estimate from the sample</a:t>
            </a:r>
          </a:p>
          <a:p>
            <a:pPr lvl="1">
              <a:spcBef>
                <a:spcPts val="200"/>
              </a:spcBef>
            </a:pPr>
            <a:r>
              <a:rPr sz="1600" b="0">
                <a:solidFill>
                  <a:srgbClr val="445566"/>
                </a:solidFill>
              </a:rPr>
              <a:t>  – The hat is a reminder — this is a best guess, not the truth</a:t>
            </a:r>
          </a:p>
          <a:p>
            <a:pPr>
              <a:spcBef>
                <a:spcPts val="500"/>
              </a:spcBef>
            </a:pPr>
            <a:r>
              <a:rPr sz="1900" b="1">
                <a:solidFill>
                  <a:srgbClr val="1A355E"/>
                </a:solidFill>
              </a:rPr>
              <a:t>• Three flavours of parameters to report</a:t>
            </a:r>
          </a:p>
          <a:p>
            <a:pPr lvl="1">
              <a:spcBef>
                <a:spcPts val="200"/>
              </a:spcBef>
            </a:pPr>
            <a:r>
              <a:rPr sz="1600" b="0">
                <a:solidFill>
                  <a:srgbClr val="445566"/>
                </a:solidFill>
              </a:rPr>
              <a:t>  – Point estimates — e.g. 'the programme improves scores by 4.2 points'</a:t>
            </a:r>
          </a:p>
          <a:p>
            <a:pPr lvl="1">
              <a:spcBef>
                <a:spcPts val="200"/>
              </a:spcBef>
            </a:pPr>
            <a:r>
              <a:rPr sz="1600" b="0">
                <a:solidFill>
                  <a:srgbClr val="445566"/>
                </a:solidFill>
              </a:rPr>
              <a:t>  – Uncertainty estimates — standard errors; how much would our guess vary across samples?</a:t>
            </a:r>
          </a:p>
          <a:p>
            <a:pPr lvl="1">
              <a:spcBef>
                <a:spcPts val="200"/>
              </a:spcBef>
            </a:pPr>
            <a:r>
              <a:rPr sz="1600" b="0">
                <a:solidFill>
                  <a:srgbClr val="445566"/>
                </a:solidFill>
              </a:rPr>
              <a:t>  – Covariance structure — how do our estimates relate to each other?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C — Criterion &amp; E — Estimator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88952" cy="54864"/>
          </a:xfrm>
          <a:prstGeom prst="rect">
            <a:avLst/>
          </a:prstGeom>
          <a:solidFill>
            <a:srgbClr val="0D93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900" b="1">
                <a:solidFill>
                  <a:srgbClr val="1A355E"/>
                </a:solidFill>
              </a:rPr>
              <a:t>• Criterion: the scoring rule defining what 'good' estimation looks like</a:t>
            </a:r>
          </a:p>
          <a:p>
            <a:pPr lvl="1">
              <a:spcBef>
                <a:spcPts val="200"/>
              </a:spcBef>
            </a:pPr>
            <a:r>
              <a:rPr sz="1600" b="0">
                <a:solidFill>
                  <a:srgbClr val="445566"/>
                </a:solidFill>
              </a:rPr>
              <a:t>  – OLS criterion: minimise the Residual Sum of Squares (RSS = Σ(y − ŷ)²)</a:t>
            </a:r>
          </a:p>
          <a:p>
            <a:pPr lvl="1">
              <a:spcBef>
                <a:spcPts val="200"/>
              </a:spcBef>
            </a:pPr>
            <a:r>
              <a:rPr sz="1600" b="0">
                <a:solidFill>
                  <a:srgbClr val="445566"/>
                </a:solidFill>
              </a:rPr>
              <a:t>  – Also called the 'loss function' in machine learning</a:t>
            </a:r>
          </a:p>
          <a:p>
            <a:pPr lvl="1">
              <a:spcBef>
                <a:spcPts val="200"/>
              </a:spcBef>
            </a:pPr>
            <a:r>
              <a:rPr sz="1600" b="0">
                <a:solidFill>
                  <a:srgbClr val="445566"/>
                </a:solidFill>
              </a:rPr>
              <a:t>  – Change the criterion → change what your estimates optimise for</a:t>
            </a:r>
          </a:p>
          <a:p>
            <a:pPr>
              <a:spcBef>
                <a:spcPts val="500"/>
              </a:spcBef>
            </a:pPr>
            <a:r>
              <a:rPr sz="1900" b="1">
                <a:solidFill>
                  <a:srgbClr val="1A355E"/>
                </a:solidFill>
              </a:rPr>
              <a:t>• Estimator: the formula that maps data to a concrete estimate</a:t>
            </a:r>
          </a:p>
          <a:p>
            <a:pPr lvl="1">
              <a:spcBef>
                <a:spcPts val="200"/>
              </a:spcBef>
            </a:pPr>
            <a:r>
              <a:rPr sz="1600" b="0">
                <a:solidFill>
                  <a:srgbClr val="445566"/>
                </a:solidFill>
              </a:rPr>
              <a:t>  – OLS estimator: β̂ = (X′X)⁻¹ X′y</a:t>
            </a:r>
          </a:p>
          <a:p>
            <a:pPr lvl="1">
              <a:spcBef>
                <a:spcPts val="200"/>
              </a:spcBef>
            </a:pPr>
            <a:r>
              <a:rPr sz="1600" b="0">
                <a:solidFill>
                  <a:srgbClr val="445566"/>
                </a:solidFill>
              </a:rPr>
              <a:t>  – Comes with guarantees: unbiasedness, consistency, efficiency</a:t>
            </a:r>
          </a:p>
          <a:p>
            <a:pPr lvl="1">
              <a:spcBef>
                <a:spcPts val="200"/>
              </a:spcBef>
            </a:pPr>
            <a:r>
              <a:rPr sz="1600" b="0">
                <a:solidFill>
                  <a:srgbClr val="445566"/>
                </a:solidFill>
              </a:rPr>
              <a:t>  – Guarantees only hold when architectural assumptions are met (Gauss-Markov)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S — Solver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88952" cy="54864"/>
          </a:xfrm>
          <a:prstGeom prst="rect">
            <a:avLst/>
          </a:prstGeom>
          <a:solidFill>
            <a:srgbClr val="0D93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900" b="1">
                <a:solidFill>
                  <a:srgbClr val="1A355E"/>
                </a:solidFill>
              </a:rPr>
              <a:t>• The computational procedure that actually finds the answer</a:t>
            </a:r>
          </a:p>
          <a:p>
            <a:pPr lvl="1">
              <a:spcBef>
                <a:spcPts val="200"/>
              </a:spcBef>
            </a:pPr>
            <a:r>
              <a:rPr sz="1600" b="0">
                <a:solidFill>
                  <a:srgbClr val="445566"/>
                </a:solidFill>
              </a:rPr>
              <a:t>  – Even with a perfect criterion and estimator, we need something to navigate to the solution</a:t>
            </a:r>
          </a:p>
          <a:p>
            <a:pPr>
              <a:spcBef>
                <a:spcPts val="500"/>
              </a:spcBef>
            </a:pPr>
            <a:r>
              <a:rPr sz="1900" b="1">
                <a:solidFill>
                  <a:srgbClr val="1A355E"/>
                </a:solidFill>
              </a:rPr>
              <a:t>• OLS: analytical solution — one formula, no iteration needed</a:t>
            </a:r>
          </a:p>
          <a:p>
            <a:pPr>
              <a:spcBef>
                <a:spcPts val="500"/>
              </a:spcBef>
            </a:pPr>
            <a:r>
              <a:rPr sz="1900" b="1">
                <a:solidFill>
                  <a:srgbClr val="1A355E"/>
                </a:solidFill>
              </a:rPr>
              <a:t>• More complex models require iterative approaches</a:t>
            </a:r>
          </a:p>
          <a:p>
            <a:pPr lvl="1">
              <a:spcBef>
                <a:spcPts val="200"/>
              </a:spcBef>
            </a:pPr>
            <a:r>
              <a:rPr sz="1600" b="0">
                <a:solidFill>
                  <a:srgbClr val="445566"/>
                </a:solidFill>
              </a:rPr>
              <a:t>  – EM algorithm, Newton-Raphson, BOBYQA (for multilevel models)</a:t>
            </a:r>
          </a:p>
          <a:p>
            <a:pPr lvl="1">
              <a:spcBef>
                <a:spcPts val="200"/>
              </a:spcBef>
            </a:pPr>
            <a:r>
              <a:rPr sz="1600" b="0">
                <a:solidFill>
                  <a:srgbClr val="445566"/>
                </a:solidFill>
              </a:rPr>
              <a:t>  – MCMC / Variational Inference (for Bayesian models)</a:t>
            </a:r>
          </a:p>
          <a:p>
            <a:pPr lvl="1">
              <a:spcBef>
                <a:spcPts val="200"/>
              </a:spcBef>
            </a:pPr>
            <a:r>
              <a:rPr sz="1600" b="0">
                <a:solidFill>
                  <a:srgbClr val="445566"/>
                </a:solidFill>
              </a:rPr>
              <a:t>  – A bad solver can converge to the wrong answer — always check convergence warnings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APCES Applied to OLS — Summary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88952" cy="54864"/>
          </a:xfrm>
          <a:prstGeom prst="rect">
            <a:avLst/>
          </a:prstGeom>
          <a:solidFill>
            <a:srgbClr val="0D93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20040" y="1143000"/>
            <a:ext cx="2011680" cy="804672"/>
          </a:xfrm>
          <a:prstGeom prst="rect">
            <a:avLst/>
          </a:prstGeom>
          <a:solidFill>
            <a:srgbClr val="1A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331720" y="1143000"/>
            <a:ext cx="9418320" cy="804672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307592"/>
            <a:ext cx="18288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Architecture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68880" y="1252728"/>
            <a:ext cx="9189720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45566"/>
                </a:solidFill>
              </a:rPr>
              <a:t>y = β₀ + β₁·time + ε,  ε ~ N(0, σ²). Errors independent, identically distributed.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1947672"/>
            <a:ext cx="2011680" cy="8046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331720" y="1947672"/>
            <a:ext cx="9418320" cy="8046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" y="2112264"/>
            <a:ext cx="18288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B6CB0"/>
                </a:solidFill>
              </a:rPr>
              <a:t>Parameters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68880" y="2057400"/>
            <a:ext cx="9189720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45566"/>
                </a:solidFill>
              </a:rPr>
              <a:t>β₀ (baseline), β₁ (treatment effect), σ² (error spread). Estimated as β̂₀, β̂₁, σ̂².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2752344"/>
            <a:ext cx="2011680" cy="804672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331720" y="2752344"/>
            <a:ext cx="9418320" cy="804672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1480" y="2916936"/>
            <a:ext cx="18288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B6CB0"/>
                </a:solidFill>
              </a:rPr>
              <a:t>Criterion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68880" y="2862072"/>
            <a:ext cx="9189720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45566"/>
                </a:solidFill>
              </a:rPr>
              <a:t>Minimise RSS = Σ(yᵢ − ŷᵢ)²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" y="3557016"/>
            <a:ext cx="2011680" cy="8046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331720" y="3557016"/>
            <a:ext cx="9418320" cy="8046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1480" y="3721608"/>
            <a:ext cx="18288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B6CB0"/>
                </a:solidFill>
              </a:rPr>
              <a:t>Estimator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468880" y="3666744"/>
            <a:ext cx="9189720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45566"/>
                </a:solidFill>
              </a:rPr>
              <a:t>β̂ = (X′X)⁻¹ X′y — BLUE under Gauss-Markov when four key assumptions hold.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" y="4361688"/>
            <a:ext cx="2011680" cy="804672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331720" y="4361688"/>
            <a:ext cx="9418320" cy="804672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11480" y="4526280"/>
            <a:ext cx="18288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B6CB0"/>
                </a:solidFill>
              </a:rPr>
              <a:t>Solver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468880" y="4471416"/>
            <a:ext cx="9189720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45566"/>
                </a:solidFill>
              </a:rPr>
              <a:t>Analytical: normal equations (X′X)β̂ = X′y. No iteration required.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D93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560320"/>
            <a:ext cx="108813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A355E"/>
                </a:solidFill>
              </a:rPr>
              <a:t>Section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749039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2B6CB0"/>
                </a:solidFill>
              </a:rPr>
              <a:t>Frequentist Methods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Frequentist Inference — Core Ideas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88952" cy="54864"/>
          </a:xfrm>
          <a:prstGeom prst="rect">
            <a:avLst/>
          </a:prstGeom>
          <a:solidFill>
            <a:srgbClr val="0D93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900" b="1">
                <a:solidFill>
                  <a:srgbClr val="1A355E"/>
                </a:solidFill>
              </a:rPr>
              <a:t>• The frequentist framework imagines repeating the study many times</a:t>
            </a:r>
          </a:p>
          <a:p>
            <a:pPr lvl="1">
              <a:spcBef>
                <a:spcPts val="200"/>
              </a:spcBef>
            </a:pPr>
            <a:r>
              <a:rPr sz="1600" b="0">
                <a:solidFill>
                  <a:srgbClr val="445566"/>
                </a:solidFill>
              </a:rPr>
              <a:t>  – Each repetition gives a slightly different estimate β̂₁</a:t>
            </a:r>
          </a:p>
          <a:p>
            <a:pPr lvl="1">
              <a:spcBef>
                <a:spcPts val="200"/>
              </a:spcBef>
            </a:pPr>
            <a:r>
              <a:rPr sz="1600" b="0">
                <a:solidFill>
                  <a:srgbClr val="445566"/>
                </a:solidFill>
              </a:rPr>
              <a:t>  – The distribution of those estimates is the sampling distribution</a:t>
            </a:r>
          </a:p>
          <a:p>
            <a:pPr>
              <a:spcBef>
                <a:spcPts val="500"/>
              </a:spcBef>
            </a:pPr>
            <a:r>
              <a:rPr sz="1900" b="1">
                <a:solidFill>
                  <a:srgbClr val="1A355E"/>
                </a:solidFill>
              </a:rPr>
              <a:t>• p-value: if the null were true, how often would we see a result this extreme?</a:t>
            </a:r>
          </a:p>
          <a:p>
            <a:pPr lvl="1">
              <a:spcBef>
                <a:spcPts val="200"/>
              </a:spcBef>
            </a:pPr>
            <a:r>
              <a:rPr sz="1600" b="0">
                <a:solidFill>
                  <a:srgbClr val="445566"/>
                </a:solidFill>
              </a:rPr>
              <a:t>  – Not the probability the null is true — a common misconception</a:t>
            </a:r>
          </a:p>
          <a:p>
            <a:pPr>
              <a:spcBef>
                <a:spcPts val="500"/>
              </a:spcBef>
            </a:pPr>
            <a:r>
              <a:rPr sz="1900" b="1">
                <a:solidFill>
                  <a:srgbClr val="1A355E"/>
                </a:solidFill>
              </a:rPr>
              <a:t>• Confidence interval: the range that would contain θ_true 95% of the time across repetitions</a:t>
            </a:r>
          </a:p>
          <a:p>
            <a:pPr lvl="1">
              <a:spcBef>
                <a:spcPts val="200"/>
              </a:spcBef>
            </a:pPr>
            <a:r>
              <a:rPr sz="1600" b="0">
                <a:solidFill>
                  <a:srgbClr val="445566"/>
                </a:solidFill>
              </a:rPr>
              <a:t>  – Not 'there is a 95% chance the true value is in this range'</a:t>
            </a:r>
          </a:p>
          <a:p>
            <a:pPr lvl="1">
              <a:spcBef>
                <a:spcPts val="200"/>
              </a:spcBef>
            </a:pPr>
            <a:r>
              <a:rPr sz="1600" b="0">
                <a:solidFill>
                  <a:srgbClr val="445566"/>
                </a:solidFill>
              </a:rPr>
              <a:t>  – Both p-values and CIs depend critically on having correct standard errors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D93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560320"/>
            <a:ext cx="108813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A355E"/>
                </a:solidFill>
              </a:rPr>
              <a:t>Chapter 2.2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749039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2B6CB0"/>
                </a:solidFill>
              </a:rPr>
              <a:t>Naïve OLS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Naïve OLS — Three Situations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88952" cy="54864"/>
          </a:xfrm>
          <a:prstGeom prst="rect">
            <a:avLst/>
          </a:prstGeom>
          <a:solidFill>
            <a:srgbClr val="0D93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900" b="1">
                <a:solidFill>
                  <a:srgbClr val="1A355E"/>
                </a:solidFill>
              </a:rPr>
              <a:t>• Three common designs all reduce to the same equation: y = β₀ + β₁·time + ε</a:t>
            </a:r>
          </a:p>
          <a:p>
            <a:pPr lvl="1">
              <a:spcBef>
                <a:spcPts val="200"/>
              </a:spcBef>
            </a:pPr>
            <a:r>
              <a:rPr sz="1600" b="0">
                <a:solidFill>
                  <a:srgbClr val="445566"/>
                </a:solidFill>
              </a:rPr>
              <a:t>  – Situation 1 — Two separate cohorts at different time points</a:t>
            </a:r>
          </a:p>
          <a:p>
            <a:pPr lvl="1">
              <a:spcBef>
                <a:spcPts val="200"/>
              </a:spcBef>
            </a:pPr>
            <a:r>
              <a:rPr sz="1600" b="0">
                <a:solidFill>
                  <a:srgbClr val="445566"/>
                </a:solidFill>
              </a:rPr>
              <a:t>  – Different children at t1 vs t2; observations are genuinely independent</a:t>
            </a:r>
          </a:p>
          <a:p>
            <a:pPr lvl="1">
              <a:spcBef>
                <a:spcPts val="200"/>
              </a:spcBef>
            </a:pPr>
            <a:r>
              <a:rPr sz="1600" b="0">
                <a:solidFill>
                  <a:srgbClr val="445566"/>
                </a:solidFill>
              </a:rPr>
              <a:t>  – Situation 2 — Two groups at the same time point (intervention vs control)</a:t>
            </a:r>
          </a:p>
          <a:p>
            <a:pPr lvl="1">
              <a:spcBef>
                <a:spcPts val="200"/>
              </a:spcBef>
            </a:pPr>
            <a:r>
              <a:rPr sz="1600" b="0">
                <a:solidFill>
                  <a:srgbClr val="445566"/>
                </a:solidFill>
              </a:rPr>
              <a:t>  – Group membership and time are interchangeable</a:t>
            </a:r>
          </a:p>
          <a:p>
            <a:pPr lvl="1">
              <a:spcBef>
                <a:spcPts val="200"/>
              </a:spcBef>
            </a:pPr>
            <a:r>
              <a:rPr sz="1600" b="0">
                <a:solidFill>
                  <a:srgbClr val="445566"/>
                </a:solidFill>
              </a:rPr>
              <a:t>  – Situation 3 — Same children measured twice, but treated as independent</a:t>
            </a:r>
          </a:p>
          <a:p>
            <a:pPr lvl="1">
              <a:spcBef>
                <a:spcPts val="200"/>
              </a:spcBef>
            </a:pPr>
            <a:r>
              <a:rPr sz="1600" b="0">
                <a:solidFill>
                  <a:srgbClr val="445566"/>
                </a:solidFill>
              </a:rPr>
              <a:t>  – This is the problematic case: OLS estimates β̂₁ correctly, but standard errors are wrong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Naïve OLS — When It Works vs When It Breaks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88952" cy="54864"/>
          </a:xfrm>
          <a:prstGeom prst="rect">
            <a:avLst/>
          </a:prstGeom>
          <a:solidFill>
            <a:srgbClr val="0D93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5394960" cy="5120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37160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2B6CB0"/>
                </a:solidFill>
              </a:rPr>
              <a:t>When OLS is valid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874520"/>
            <a:ext cx="5120640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600">
                <a:solidFill>
                  <a:srgbClr val="445566"/>
                </a:solidFill>
              </a:rPr>
              <a:t>• Situations 1 &amp; 2: observations are truly independent</a:t>
            </a:r>
          </a:p>
          <a:p>
            <a:pPr>
              <a:spcBef>
                <a:spcPts val="500"/>
              </a:spcBef>
            </a:pPr>
            <a:r>
              <a:rPr sz="1600">
                <a:solidFill>
                  <a:srgbClr val="445566"/>
                </a:solidFill>
              </a:rPr>
              <a:t>• Standard errors are correct → CIs and p-values can be trusted</a:t>
            </a:r>
          </a:p>
          <a:p>
            <a:pPr>
              <a:spcBef>
                <a:spcPts val="500"/>
              </a:spcBef>
            </a:pPr>
            <a:r>
              <a:rPr sz="1600">
                <a:solidFill>
                  <a:srgbClr val="445566"/>
                </a:solidFill>
              </a:rPr>
              <a:t>• β̂₁ is BLUE (Best Linear Unbiased Estimator) under Gauss-Markov</a:t>
            </a:r>
          </a:p>
          <a:p>
            <a:pPr>
              <a:spcBef>
                <a:spcPts val="500"/>
              </a:spcBef>
            </a:pPr>
            <a:r>
              <a:rPr sz="1600">
                <a:solidFill>
                  <a:srgbClr val="445566"/>
                </a:solidFill>
              </a:rPr>
              <a:t>• Comparing groups or cohorts without repeated measures is fine</a:t>
            </a:r>
          </a:p>
        </p:txBody>
      </p:sp>
      <p:sp>
        <p:nvSpPr>
          <p:cNvPr id="8" name="Rectangle 7"/>
          <p:cNvSpPr/>
          <p:nvPr/>
        </p:nvSpPr>
        <p:spPr>
          <a:xfrm>
            <a:off x="6309360" y="1280160"/>
            <a:ext cx="5394960" cy="5120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37160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2B6CB0"/>
                </a:solidFill>
              </a:rPr>
              <a:t>When OLS breaks down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1874520"/>
            <a:ext cx="5120640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600">
                <a:solidFill>
                  <a:srgbClr val="445566"/>
                </a:solidFill>
              </a:rPr>
              <a:t>• Situation 3: same child measured at multiple time points</a:t>
            </a:r>
          </a:p>
          <a:p>
            <a:pPr>
              <a:spcBef>
                <a:spcPts val="500"/>
              </a:spcBef>
            </a:pPr>
            <a:r>
              <a:rPr sz="1600">
                <a:solidFill>
                  <a:srgbClr val="445566"/>
                </a:solidFill>
              </a:rPr>
              <a:t>• Within-person correlation violates the independence assumption</a:t>
            </a:r>
          </a:p>
          <a:p>
            <a:pPr>
              <a:spcBef>
                <a:spcPts val="500"/>
              </a:spcBef>
            </a:pPr>
            <a:r>
              <a:rPr sz="1600">
                <a:solidFill>
                  <a:srgbClr val="445566"/>
                </a:solidFill>
              </a:rPr>
              <a:t>• β̂₁ is still a reasonable effect estimate, but SEs are too small</a:t>
            </a:r>
          </a:p>
          <a:p>
            <a:pPr>
              <a:spcBef>
                <a:spcPts val="500"/>
              </a:spcBef>
            </a:pPr>
            <a:r>
              <a:rPr sz="1600">
                <a:solidFill>
                  <a:srgbClr val="445566"/>
                </a:solidFill>
              </a:rPr>
              <a:t>• p-values too low, CIs too narrow → false confidence</a:t>
            </a:r>
          </a:p>
          <a:p>
            <a:pPr>
              <a:spcBef>
                <a:spcPts val="500"/>
              </a:spcBef>
            </a:pPr>
            <a:r>
              <a:rPr sz="1600">
                <a:solidFill>
                  <a:srgbClr val="445566"/>
                </a:solidFill>
              </a:rPr>
              <a:t>• Fix: GLS or multilevel models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D93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560320"/>
            <a:ext cx="108813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A355E"/>
                </a:solidFill>
              </a:rPr>
              <a:t>Chapter 2.3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749039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2B6CB0"/>
                </a:solidFill>
              </a:rPr>
              <a:t>Generalised Least Squares (GLS)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GLS — The Core Idea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88952" cy="54864"/>
          </a:xfrm>
          <a:prstGeom prst="rect">
            <a:avLst/>
          </a:prstGeom>
          <a:solidFill>
            <a:srgbClr val="0D93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900" b="1">
                <a:solidFill>
                  <a:srgbClr val="1A355E"/>
                </a:solidFill>
              </a:rPr>
              <a:t>• GLS is the minimal fix to OLS for longitudinal data</a:t>
            </a:r>
          </a:p>
          <a:p>
            <a:pPr lvl="1">
              <a:spcBef>
                <a:spcPts val="200"/>
              </a:spcBef>
            </a:pPr>
            <a:r>
              <a:rPr sz="1600" b="0">
                <a:solidFill>
                  <a:srgbClr val="445566"/>
                </a:solidFill>
              </a:rPr>
              <a:t>  – Keeps the same equation: y = β₀ + β₁·time + ε</a:t>
            </a:r>
          </a:p>
          <a:p>
            <a:pPr lvl="1">
              <a:spcBef>
                <a:spcPts val="200"/>
              </a:spcBef>
            </a:pPr>
            <a:r>
              <a:rPr sz="1600" b="0">
                <a:solidFill>
                  <a:srgbClr val="445566"/>
                </a:solidFill>
              </a:rPr>
              <a:t>  – Changes exactly one thing: the assumption about how errors behave</a:t>
            </a:r>
          </a:p>
          <a:p>
            <a:pPr>
              <a:spcBef>
                <a:spcPts val="500"/>
              </a:spcBef>
            </a:pPr>
            <a:r>
              <a:rPr sz="1900" b="1">
                <a:solidFill>
                  <a:srgbClr val="1A355E"/>
                </a:solidFill>
              </a:rPr>
              <a:t>• OLS: ε ~ N(0, σ²) — one number, assumes independence</a:t>
            </a:r>
          </a:p>
          <a:p>
            <a:pPr>
              <a:spcBef>
                <a:spcPts val="500"/>
              </a:spcBef>
            </a:pPr>
            <a:r>
              <a:rPr sz="1900" b="1">
                <a:solidFill>
                  <a:srgbClr val="1A355E"/>
                </a:solidFill>
              </a:rPr>
              <a:t>• GLS: ε ~ N(0, Σ) — a matrix that can encode correlation</a:t>
            </a:r>
          </a:p>
          <a:p>
            <a:pPr lvl="1">
              <a:spcBef>
                <a:spcPts val="200"/>
              </a:spcBef>
            </a:pPr>
            <a:r>
              <a:rPr sz="1600" b="0">
                <a:solidFill>
                  <a:srgbClr val="445566"/>
                </a:solidFill>
              </a:rPr>
              <a:t>  – Off-diagonal entries of Σ describe the relationship between observations</a:t>
            </a:r>
          </a:p>
          <a:p>
            <a:pPr lvl="1">
              <a:spcBef>
                <a:spcPts val="200"/>
              </a:spcBef>
            </a:pPr>
            <a:r>
              <a:rPr sz="1600" b="0">
                <a:solidFill>
                  <a:srgbClr val="445566"/>
                </a:solidFill>
              </a:rPr>
              <a:t>  – Two obs from the same child can be positively correlated</a:t>
            </a:r>
          </a:p>
          <a:p>
            <a:pPr lvl="1">
              <a:spcBef>
                <a:spcPts val="200"/>
              </a:spcBef>
            </a:pPr>
            <a:r>
              <a:rPr sz="1600" b="0">
                <a:solidFill>
                  <a:srgbClr val="445566"/>
                </a:solidFill>
              </a:rPr>
              <a:t>  – Two obs from different children stay uncorrelated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GLS — Three Covariance Structures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88952" cy="54864"/>
          </a:xfrm>
          <a:prstGeom prst="rect">
            <a:avLst/>
          </a:prstGeom>
          <a:solidFill>
            <a:srgbClr val="0D93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900" b="1">
                <a:solidFill>
                  <a:srgbClr val="1A355E"/>
                </a:solidFill>
              </a:rPr>
              <a:t>• We must choose a structure for Σ before estimating</a:t>
            </a:r>
          </a:p>
          <a:p>
            <a:pPr>
              <a:spcBef>
                <a:spcPts val="500"/>
              </a:spcBef>
            </a:pPr>
            <a:r>
              <a:rPr sz="1900" b="1">
                <a:solidFill>
                  <a:srgbClr val="1A355E"/>
                </a:solidFill>
              </a:rPr>
              <a:t>• Compound Symmetry (CS)</a:t>
            </a:r>
          </a:p>
          <a:p>
            <a:pPr lvl="1">
              <a:spcBef>
                <a:spcPts val="200"/>
              </a:spcBef>
            </a:pPr>
            <a:r>
              <a:rPr sz="1600" b="0">
                <a:solidFill>
                  <a:srgbClr val="445566"/>
                </a:solidFill>
              </a:rPr>
              <a:t>  – Every pair of obs from the same child is equally correlated</a:t>
            </a:r>
          </a:p>
          <a:p>
            <a:pPr lvl="1">
              <a:spcBef>
                <a:spcPts val="200"/>
              </a:spcBef>
            </a:pPr>
            <a:r>
              <a:rPr sz="1600" b="0">
                <a:solidFill>
                  <a:srgbClr val="445566"/>
                </a:solidFill>
              </a:rPr>
              <a:t>  – Simplest assumption; sensible default with only two time points</a:t>
            </a:r>
          </a:p>
          <a:p>
            <a:pPr>
              <a:spcBef>
                <a:spcPts val="500"/>
              </a:spcBef>
            </a:pPr>
            <a:r>
              <a:rPr sz="1900" b="1">
                <a:solidFill>
                  <a:srgbClr val="1A355E"/>
                </a:solidFill>
              </a:rPr>
              <a:t>• AR(1) — First-order Autoregressive</a:t>
            </a:r>
          </a:p>
          <a:p>
            <a:pPr lvl="1">
              <a:spcBef>
                <a:spcPts val="200"/>
              </a:spcBef>
            </a:pPr>
            <a:r>
              <a:rPr sz="1600" b="0">
                <a:solidFill>
                  <a:srgbClr val="445566"/>
                </a:solidFill>
              </a:rPr>
              <a:t>  – Observations closer in time are more correlated</a:t>
            </a:r>
          </a:p>
          <a:p>
            <a:pPr lvl="1">
              <a:spcBef>
                <a:spcPts val="200"/>
              </a:spcBef>
            </a:pPr>
            <a:r>
              <a:rPr sz="1600" b="0">
                <a:solidFill>
                  <a:srgbClr val="445566"/>
                </a:solidFill>
              </a:rPr>
              <a:t>  – Correlation decays at a fixed rate as the gap grows — more realistic for longer studies</a:t>
            </a:r>
          </a:p>
          <a:p>
            <a:pPr>
              <a:spcBef>
                <a:spcPts val="500"/>
              </a:spcBef>
            </a:pPr>
            <a:r>
              <a:rPr sz="1900" b="1">
                <a:solidFill>
                  <a:srgbClr val="1A355E"/>
                </a:solidFill>
              </a:rPr>
              <a:t>• Unstructured</a:t>
            </a:r>
          </a:p>
          <a:p>
            <a:pPr lvl="1">
              <a:spcBef>
                <a:spcPts val="200"/>
              </a:spcBef>
            </a:pPr>
            <a:r>
              <a:rPr sz="1600" b="0">
                <a:solidFill>
                  <a:srgbClr val="445566"/>
                </a:solidFill>
              </a:rPr>
              <a:t>  – Every within-child correlation estimated freely — most flexible, most expensive</a:t>
            </a:r>
          </a:p>
          <a:p>
            <a:pPr lvl="1">
              <a:spcBef>
                <a:spcPts val="200"/>
              </a:spcBef>
            </a:pPr>
            <a:r>
              <a:rPr sz="1600" b="0">
                <a:solidFill>
                  <a:srgbClr val="445566"/>
                </a:solidFill>
              </a:rPr>
              <a:t>  – Requires larger samples; compare structures using AIC / BIC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GLS — Estimator &amp; Payoff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88952" cy="54864"/>
          </a:xfrm>
          <a:prstGeom prst="rect">
            <a:avLst/>
          </a:prstGeom>
          <a:solidFill>
            <a:srgbClr val="0D93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900" b="1">
                <a:solidFill>
                  <a:srgbClr val="1A355E"/>
                </a:solidFill>
              </a:rPr>
              <a:t>• GLS estimator: β̂_GLS = (X′Σ⁻¹X)⁻¹ X′Σ⁻¹y</a:t>
            </a:r>
          </a:p>
          <a:p>
            <a:pPr lvl="1">
              <a:spcBef>
                <a:spcPts val="200"/>
              </a:spcBef>
            </a:pPr>
            <a:r>
              <a:rPr sz="1600" b="0">
                <a:solidFill>
                  <a:srgbClr val="445566"/>
                </a:solidFill>
              </a:rPr>
              <a:t>  – Same shape as OLS, but with Σ⁻¹ weighting inserted in two places</a:t>
            </a:r>
          </a:p>
          <a:p>
            <a:pPr lvl="1">
              <a:spcBef>
                <a:spcPts val="200"/>
              </a:spcBef>
            </a:pPr>
            <a:r>
              <a:rPr sz="1600" b="0">
                <a:solidFill>
                  <a:srgbClr val="445566"/>
                </a:solidFill>
              </a:rPr>
              <a:t>  – Noisier observations are down-weighted; correlated obs are not double-counted</a:t>
            </a:r>
          </a:p>
          <a:p>
            <a:pPr>
              <a:spcBef>
                <a:spcPts val="500"/>
              </a:spcBef>
            </a:pPr>
            <a:r>
              <a:rPr sz="1900" b="1">
                <a:solidFill>
                  <a:srgbClr val="1A355E"/>
                </a:solidFill>
              </a:rPr>
              <a:t>• Result: BLUE again — but now for correlated data</a:t>
            </a:r>
          </a:p>
          <a:p>
            <a:pPr lvl="1">
              <a:spcBef>
                <a:spcPts val="200"/>
              </a:spcBef>
            </a:pPr>
            <a:r>
              <a:rPr sz="1600" b="0">
                <a:solidFill>
                  <a:srgbClr val="445566"/>
                </a:solidFill>
              </a:rPr>
              <a:t>  – Standard errors are now honest → p-values and CIs can be trusted</a:t>
            </a:r>
          </a:p>
          <a:p>
            <a:pPr>
              <a:spcBef>
                <a:spcPts val="500"/>
              </a:spcBef>
            </a:pPr>
            <a:r>
              <a:rPr sz="1900" b="1">
                <a:solidFill>
                  <a:srgbClr val="1A355E"/>
                </a:solidFill>
              </a:rPr>
              <a:t>• Key caveat</a:t>
            </a:r>
          </a:p>
          <a:p>
            <a:pPr lvl="1">
              <a:spcBef>
                <a:spcPts val="200"/>
              </a:spcBef>
            </a:pPr>
            <a:r>
              <a:rPr sz="1600" b="0">
                <a:solidFill>
                  <a:srgbClr val="445566"/>
                </a:solidFill>
              </a:rPr>
              <a:t>  – 'Correctly specified' is doing a lot of work</a:t>
            </a:r>
          </a:p>
          <a:p>
            <a:pPr lvl="1">
              <a:spcBef>
                <a:spcPts val="200"/>
              </a:spcBef>
            </a:pPr>
            <a:r>
              <a:rPr sz="1600" b="0">
                <a:solidFill>
                  <a:srgbClr val="445566"/>
                </a:solidFill>
              </a:rPr>
              <a:t>  – Wrong choice of covariance structure → SEs are still off (less badly than OLS, but still off)</a:t>
            </a:r>
          </a:p>
          <a:p>
            <a:pPr lvl="1">
              <a:spcBef>
                <a:spcPts val="200"/>
              </a:spcBef>
            </a:pPr>
            <a:r>
              <a:rPr sz="1600" b="0">
                <a:solidFill>
                  <a:srgbClr val="445566"/>
                </a:solidFill>
              </a:rPr>
              <a:t>  – Try several structures; compare with AIC / BIC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APCES Applied to GLS — Summary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88952" cy="54864"/>
          </a:xfrm>
          <a:prstGeom prst="rect">
            <a:avLst/>
          </a:prstGeom>
          <a:solidFill>
            <a:srgbClr val="0D93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20040" y="1143000"/>
            <a:ext cx="2011680" cy="804672"/>
          </a:xfrm>
          <a:prstGeom prst="rect">
            <a:avLst/>
          </a:prstGeom>
          <a:solidFill>
            <a:srgbClr val="1A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331720" y="1143000"/>
            <a:ext cx="9418320" cy="804672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307592"/>
            <a:ext cx="18288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Architecture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68880" y="1252728"/>
            <a:ext cx="9189720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45566"/>
                </a:solidFill>
              </a:rPr>
              <a:t>y = β₀ + β₁·time + ε,  ε ~ N(0, Σ). Errors can be correlated within child.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1947672"/>
            <a:ext cx="2011680" cy="8046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331720" y="1947672"/>
            <a:ext cx="9418320" cy="8046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" y="2112264"/>
            <a:ext cx="18288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B6CB0"/>
                </a:solidFill>
              </a:rPr>
              <a:t>Parameters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68880" y="2057400"/>
            <a:ext cx="9189720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45566"/>
                </a:solidFill>
              </a:rPr>
              <a:t>β₀, β₁, and Σ (covariance structure: compound symmetry, AR(1), or unstructured).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2752344"/>
            <a:ext cx="2011680" cy="804672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331720" y="2752344"/>
            <a:ext cx="9418320" cy="804672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1480" y="2916936"/>
            <a:ext cx="18288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B6CB0"/>
                </a:solidFill>
              </a:rPr>
              <a:t>Criterion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68880" y="2862072"/>
            <a:ext cx="9189720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45566"/>
                </a:solidFill>
              </a:rPr>
              <a:t>Minimise weighted RSS: Σ(yᵢ − ŷᵢ)′ Σ⁻¹ (yᵢ − ŷᵢ). In practice: maximise REML likelihood.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" y="3557016"/>
            <a:ext cx="2011680" cy="8046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331720" y="3557016"/>
            <a:ext cx="9418320" cy="8046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1480" y="3721608"/>
            <a:ext cx="18288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B6CB0"/>
                </a:solidFill>
              </a:rPr>
              <a:t>Estimator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468880" y="3666744"/>
            <a:ext cx="9189720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45566"/>
                </a:solidFill>
              </a:rPr>
              <a:t>β̂_GLS = (X′Σ⁻¹X)⁻¹ X′Σ⁻¹y — BLUE when Σ correctly specified.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" y="4361688"/>
            <a:ext cx="2011680" cy="804672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331720" y="4361688"/>
            <a:ext cx="9418320" cy="804672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11480" y="4526280"/>
            <a:ext cx="18288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B6CB0"/>
                </a:solidFill>
              </a:rPr>
              <a:t>Solver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468880" y="4471416"/>
            <a:ext cx="9189720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45566"/>
                </a:solidFill>
              </a:rPr>
              <a:t>Iterative EM / Newton-Raphson: estimate β and Σ in alternating steps until convergence.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D93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560320"/>
            <a:ext cx="108813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A355E"/>
                </a:solidFill>
              </a:rPr>
              <a:t>Chapter 2.4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749039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2B6CB0"/>
                </a:solidFill>
              </a:rPr>
              <a:t>Multilevel Models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Multilevel Models — The Key Intuition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88952" cy="54864"/>
          </a:xfrm>
          <a:prstGeom prst="rect">
            <a:avLst/>
          </a:prstGeom>
          <a:solidFill>
            <a:srgbClr val="0D93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900" b="1">
                <a:solidFill>
                  <a:srgbClr val="1A355E"/>
                </a:solidFill>
              </a:rPr>
              <a:t>• GLS models the correlation directly; multilevel models explain why it exists</a:t>
            </a:r>
          </a:p>
          <a:p>
            <a:pPr>
              <a:spcBef>
                <a:spcPts val="500"/>
              </a:spcBef>
            </a:pPr>
            <a:r>
              <a:rPr sz="1900" b="1">
                <a:solidFill>
                  <a:srgbClr val="1A355E"/>
                </a:solidFill>
              </a:rPr>
              <a:t>• The orange tree analogy</a:t>
            </a:r>
          </a:p>
          <a:p>
            <a:pPr lvl="1">
              <a:spcBef>
                <a:spcPts val="200"/>
              </a:spcBef>
            </a:pPr>
            <a:r>
              <a:rPr sz="1600" b="0">
                <a:solidFill>
                  <a:srgbClr val="445566"/>
                </a:solidFill>
              </a:rPr>
              <a:t>  – Two slices from the same orange taste alike — not mysterious, just the same fruit</a:t>
            </a:r>
          </a:p>
          <a:p>
            <a:pPr lvl="1">
              <a:spcBef>
                <a:spcPts val="200"/>
              </a:spcBef>
            </a:pPr>
            <a:r>
              <a:rPr sz="1600" b="0">
                <a:solidFill>
                  <a:srgbClr val="445566"/>
                </a:solidFill>
              </a:rPr>
              <a:t>  – Two measurements from the same child are similar — same underlying child</a:t>
            </a:r>
          </a:p>
          <a:p>
            <a:pPr lvl="1">
              <a:spcBef>
                <a:spcPts val="200"/>
              </a:spcBef>
            </a:pPr>
            <a:r>
              <a:rPr sz="1600" b="0">
                <a:solidFill>
                  <a:srgbClr val="445566"/>
                </a:solidFill>
              </a:rPr>
              <a:t>  – Once we label which orange each slice came from, within-orange variation is independent</a:t>
            </a:r>
          </a:p>
          <a:p>
            <a:pPr>
              <a:spcBef>
                <a:spcPts val="500"/>
              </a:spcBef>
            </a:pPr>
            <a:r>
              <a:rPr sz="1900" b="1">
                <a:solidFill>
                  <a:srgbClr val="1A355E"/>
                </a:solidFill>
              </a:rPr>
              <a:t>• Model equation: yᵢⱼ = β₀ + uⱼ + β₁·timeᵢⱼ + εᵢⱼ</a:t>
            </a:r>
          </a:p>
          <a:p>
            <a:pPr lvl="1">
              <a:spcBef>
                <a:spcPts val="200"/>
              </a:spcBef>
            </a:pPr>
            <a:r>
              <a:rPr sz="1600" b="0">
                <a:solidFill>
                  <a:srgbClr val="445566"/>
                </a:solidFill>
              </a:rPr>
              <a:t>  – uⱼ = child-specific offset (which 'orange' is this child?)</a:t>
            </a:r>
          </a:p>
          <a:p>
            <a:pPr lvl="1">
              <a:spcBef>
                <a:spcPts val="200"/>
              </a:spcBef>
            </a:pPr>
            <a:r>
              <a:rPr sz="1600" b="0">
                <a:solidFill>
                  <a:srgbClr val="445566"/>
                </a:solidFill>
              </a:rPr>
              <a:t>  – εᵢⱼ = residual noise within that child's measurements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Multilevel Models — Variance Decomposition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88952" cy="54864"/>
          </a:xfrm>
          <a:prstGeom prst="rect">
            <a:avLst/>
          </a:prstGeom>
          <a:solidFill>
            <a:srgbClr val="0D93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900" b="1">
                <a:solidFill>
                  <a:srgbClr val="1A355E"/>
                </a:solidFill>
              </a:rPr>
              <a:t>• Variance is split into two buckets</a:t>
            </a:r>
          </a:p>
          <a:p>
            <a:pPr lvl="1">
              <a:spcBef>
                <a:spcPts val="200"/>
              </a:spcBef>
            </a:pPr>
            <a:r>
              <a:rPr sz="1600" b="0">
                <a:solidFill>
                  <a:srgbClr val="445566"/>
                </a:solidFill>
              </a:rPr>
              <a:t>  – Between-children variance τ² — orange-to-orange differences (baseline differences)</a:t>
            </a:r>
          </a:p>
          <a:p>
            <a:pPr lvl="1">
              <a:spcBef>
                <a:spcPts val="200"/>
              </a:spcBef>
            </a:pPr>
            <a:r>
              <a:rPr sz="1600" b="0">
                <a:solidFill>
                  <a:srgbClr val="445566"/>
                </a:solidFill>
              </a:rPr>
              <a:t>  – Within-child variance σ² — slice-to-slice differences within the same child</a:t>
            </a:r>
          </a:p>
          <a:p>
            <a:pPr>
              <a:spcBef>
                <a:spcPts val="500"/>
              </a:spcBef>
            </a:pPr>
            <a:r>
              <a:rPr sz="1900" b="1">
                <a:solidFill>
                  <a:srgbClr val="1A355E"/>
                </a:solidFill>
              </a:rPr>
              <a:t>• The ICC (Intraclass Correlation Coefficient) summarises this</a:t>
            </a:r>
          </a:p>
          <a:p>
            <a:pPr lvl="1">
              <a:spcBef>
                <a:spcPts val="200"/>
              </a:spcBef>
            </a:pPr>
            <a:r>
              <a:rPr sz="1600" b="0">
                <a:solidFill>
                  <a:srgbClr val="445566"/>
                </a:solidFill>
              </a:rPr>
              <a:t>  – ICC = τ² / (τ² + σ²)</a:t>
            </a:r>
          </a:p>
          <a:p>
            <a:pPr lvl="1">
              <a:spcBef>
                <a:spcPts val="200"/>
              </a:spcBef>
            </a:pPr>
            <a:r>
              <a:rPr sz="1600" b="0">
                <a:solidFill>
                  <a:srgbClr val="445566"/>
                </a:solidFill>
              </a:rPr>
              <a:t>  – ICC = 0.6 means 60% of variation is stable differences between children</a:t>
            </a:r>
          </a:p>
          <a:p>
            <a:pPr lvl="1">
              <a:spcBef>
                <a:spcPts val="200"/>
              </a:spcBef>
            </a:pPr>
            <a:r>
              <a:rPr sz="1600" b="0">
                <a:solidFill>
                  <a:srgbClr val="445566"/>
                </a:solidFill>
              </a:rPr>
              <a:t>  – High ICC → children are very different from each other; a few obs per child carry little info</a:t>
            </a:r>
          </a:p>
          <a:p>
            <a:pPr lvl="1">
              <a:spcBef>
                <a:spcPts val="200"/>
              </a:spcBef>
            </a:pPr>
            <a:r>
              <a:rPr sz="1600" b="0">
                <a:solidFill>
                  <a:srgbClr val="445566"/>
                </a:solidFill>
              </a:rPr>
              <a:t>  – ICC ≈ ρ in GLS under compound symmetry — the two approaches are closely related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Multilevel Models — Estimator &amp; Shrinkage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88952" cy="54864"/>
          </a:xfrm>
          <a:prstGeom prst="rect">
            <a:avLst/>
          </a:prstGeom>
          <a:solidFill>
            <a:srgbClr val="0D93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900" b="1">
                <a:solidFill>
                  <a:srgbClr val="1A355E"/>
                </a:solidFill>
              </a:rPr>
              <a:t>• Fixed effects β₀, β₁ estimated via weighted regression (like GLS)</a:t>
            </a:r>
          </a:p>
          <a:p>
            <a:pPr>
              <a:spcBef>
                <a:spcPts val="500"/>
              </a:spcBef>
            </a:pPr>
            <a:r>
              <a:rPr sz="1900" b="1">
                <a:solidFill>
                  <a:srgbClr val="1A355E"/>
                </a:solidFill>
              </a:rPr>
              <a:t>• Random effects uⱼ predicted via BLUP (Best Linear Unbiased Prediction)</a:t>
            </a:r>
          </a:p>
          <a:p>
            <a:pPr lvl="1">
              <a:spcBef>
                <a:spcPts val="200"/>
              </a:spcBef>
            </a:pPr>
            <a:r>
              <a:rPr sz="1600" b="0">
                <a:solidFill>
                  <a:srgbClr val="445566"/>
                </a:solidFill>
              </a:rPr>
              <a:t>  – BLUP is a shrinkage estimator — a compromise between:</a:t>
            </a:r>
          </a:p>
          <a:p>
            <a:pPr lvl="1">
              <a:spcBef>
                <a:spcPts val="200"/>
              </a:spcBef>
            </a:pPr>
            <a:r>
              <a:rPr sz="1600" b="0">
                <a:solidFill>
                  <a:srgbClr val="445566"/>
                </a:solidFill>
              </a:rPr>
              <a:t>  – The child's own data (trust this more when we have many obs per child)</a:t>
            </a:r>
          </a:p>
          <a:p>
            <a:pPr lvl="1">
              <a:spcBef>
                <a:spcPts val="200"/>
              </a:spcBef>
            </a:pPr>
            <a:r>
              <a:rPr sz="1600" b="0">
                <a:solidFill>
                  <a:srgbClr val="445566"/>
                </a:solidFill>
              </a:rPr>
              <a:t>  – The population average (pull toward this when we have few obs)</a:t>
            </a:r>
          </a:p>
          <a:p>
            <a:pPr lvl="1">
              <a:spcBef>
                <a:spcPts val="200"/>
              </a:spcBef>
            </a:pPr>
            <a:r>
              <a:rPr sz="1600" b="0">
                <a:solidFill>
                  <a:srgbClr val="445566"/>
                </a:solidFill>
              </a:rPr>
              <a:t>  – Shrinkage is a feature, not a bug — guards against overfitting with sparse data</a:t>
            </a:r>
          </a:p>
          <a:p>
            <a:pPr>
              <a:spcBef>
                <a:spcPts val="500"/>
              </a:spcBef>
            </a:pPr>
            <a:r>
              <a:rPr sz="1900" b="1">
                <a:solidFill>
                  <a:srgbClr val="1A355E"/>
                </a:solidFill>
              </a:rPr>
              <a:t>• Key limitation</a:t>
            </a:r>
          </a:p>
          <a:p>
            <a:pPr lvl="1">
              <a:spcBef>
                <a:spcPts val="200"/>
              </a:spcBef>
            </a:pPr>
            <a:r>
              <a:rPr sz="1600" b="0">
                <a:solidFill>
                  <a:srgbClr val="445566"/>
                </a:solidFill>
              </a:rPr>
              <a:t>  – Need enough children to estimate τ² reliably (rough guide: ≥ 20)</a:t>
            </a:r>
          </a:p>
          <a:p>
            <a:pPr lvl="1">
              <a:spcBef>
                <a:spcPts val="200"/>
              </a:spcBef>
            </a:pPr>
            <a:r>
              <a:rPr sz="1600" b="0">
                <a:solidFill>
                  <a:srgbClr val="445566"/>
                </a:solidFill>
              </a:rPr>
              <a:t>  – With only two time points, compound symmetry is implied — same as GLS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APCES Applied to Multilevel Models — Summary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88952" cy="54864"/>
          </a:xfrm>
          <a:prstGeom prst="rect">
            <a:avLst/>
          </a:prstGeom>
          <a:solidFill>
            <a:srgbClr val="0D93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20040" y="1143000"/>
            <a:ext cx="2011680" cy="804672"/>
          </a:xfrm>
          <a:prstGeom prst="rect">
            <a:avLst/>
          </a:prstGeom>
          <a:solidFill>
            <a:srgbClr val="1A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331720" y="1143000"/>
            <a:ext cx="9418320" cy="804672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307592"/>
            <a:ext cx="18288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Architecture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68880" y="1252728"/>
            <a:ext cx="9189720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45566"/>
                </a:solidFill>
              </a:rPr>
              <a:t>yᵢⱼ = β₀ + uⱼ + β₁·timeᵢⱼ + εᵢⱼ,  uⱼ ~ N(0,τ²),  εᵢⱼ ~ N(0,σ²). Nested observations.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1947672"/>
            <a:ext cx="2011680" cy="8046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331720" y="1947672"/>
            <a:ext cx="9418320" cy="8046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" y="2112264"/>
            <a:ext cx="18288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B6CB0"/>
                </a:solidFill>
              </a:rPr>
              <a:t>Parameters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68880" y="2057400"/>
            <a:ext cx="9189720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45566"/>
                </a:solidFill>
              </a:rPr>
              <a:t>β₀, β₁ (fixed effects); τ² (between-child variance); σ² (within-child variance); ICC = τ²/(τ²+σ²).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2752344"/>
            <a:ext cx="2011680" cy="804672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331720" y="2752344"/>
            <a:ext cx="9418320" cy="804672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1480" y="2916936"/>
            <a:ext cx="18288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B6CB0"/>
                </a:solidFill>
              </a:rPr>
              <a:t>Criterion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68880" y="2862072"/>
            <a:ext cx="9189720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45566"/>
                </a:solidFill>
              </a:rPr>
              <a:t>REML likelihood over the two-level data structure. Use plain ML only when comparing fixed effects.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" y="3557016"/>
            <a:ext cx="2011680" cy="8046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331720" y="3557016"/>
            <a:ext cx="9418320" cy="8046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1480" y="3721608"/>
            <a:ext cx="18288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B6CB0"/>
                </a:solidFill>
              </a:rPr>
              <a:t>Estimator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468880" y="3666744"/>
            <a:ext cx="9189720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45566"/>
                </a:solidFill>
              </a:rPr>
              <a:t>Fixed effects via weighted regression; random effects via BLUP (shrinkage toward the population mean).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" y="4361688"/>
            <a:ext cx="2011680" cy="804672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331720" y="4361688"/>
            <a:ext cx="9418320" cy="804672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11480" y="4526280"/>
            <a:ext cx="18288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B6CB0"/>
                </a:solidFill>
              </a:rPr>
              <a:t>Solver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468880" y="4471416"/>
            <a:ext cx="9189720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45566"/>
                </a:solidFill>
              </a:rPr>
              <a:t>Iterative: EM + Newton-Raphson (nlme) or BOBYQA + Nelder-Mead (lme4). Rescale time to 0,1,2,… if convergence fails.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D93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560320"/>
            <a:ext cx="108813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A355E"/>
                </a:solidFill>
              </a:rPr>
              <a:t>Section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749039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2B6CB0"/>
                </a:solidFill>
              </a:rPr>
              <a:t>Bayesian Methods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Bayesian Inference — Core Shift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88952" cy="54864"/>
          </a:xfrm>
          <a:prstGeom prst="rect">
            <a:avLst/>
          </a:prstGeom>
          <a:solidFill>
            <a:srgbClr val="0D93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900" b="1">
                <a:solidFill>
                  <a:srgbClr val="1A355E"/>
                </a:solidFill>
              </a:rPr>
              <a:t>• Frequentist: parameters are fixed unknowns; data are random</a:t>
            </a:r>
          </a:p>
          <a:p>
            <a:pPr>
              <a:spcBef>
                <a:spcPts val="500"/>
              </a:spcBef>
            </a:pPr>
            <a:r>
              <a:rPr sz="1900" b="1">
                <a:solidFill>
                  <a:srgbClr val="1A355E"/>
                </a:solidFill>
              </a:rPr>
              <a:t>• Bayesian: parameters are also treated as random — they have distributions</a:t>
            </a:r>
          </a:p>
          <a:p>
            <a:pPr>
              <a:spcBef>
                <a:spcPts val="500"/>
              </a:spcBef>
            </a:pPr>
            <a:r>
              <a:rPr sz="1900" b="1">
                <a:solidFill>
                  <a:srgbClr val="1A355E"/>
                </a:solidFill>
              </a:rPr>
              <a:t>• Three key quantities</a:t>
            </a:r>
          </a:p>
          <a:p>
            <a:pPr lvl="1">
              <a:spcBef>
                <a:spcPts val="200"/>
              </a:spcBef>
            </a:pPr>
            <a:r>
              <a:rPr sz="1600" b="0">
                <a:solidFill>
                  <a:srgbClr val="445566"/>
                </a:solidFill>
              </a:rPr>
              <a:t>  – Prior p(θ): our belief about the parameter before seeing data</a:t>
            </a:r>
          </a:p>
          <a:p>
            <a:pPr lvl="1">
              <a:spcBef>
                <a:spcPts val="200"/>
              </a:spcBef>
            </a:pPr>
            <a:r>
              <a:rPr sz="1600" b="0">
                <a:solidFill>
                  <a:srgbClr val="445566"/>
                </a:solidFill>
              </a:rPr>
              <a:t>  – Likelihood p(data | θ): how probable is the data given a parameter value?</a:t>
            </a:r>
          </a:p>
          <a:p>
            <a:pPr lvl="1">
              <a:spcBef>
                <a:spcPts val="200"/>
              </a:spcBef>
            </a:pPr>
            <a:r>
              <a:rPr sz="1600" b="0">
                <a:solidFill>
                  <a:srgbClr val="445566"/>
                </a:solidFill>
              </a:rPr>
              <a:t>  – Posterior p(θ | data): updated belief after combining prior and likelihood</a:t>
            </a:r>
          </a:p>
          <a:p>
            <a:pPr>
              <a:spcBef>
                <a:spcPts val="500"/>
              </a:spcBef>
            </a:pPr>
            <a:r>
              <a:rPr sz="1900" b="1">
                <a:solidFill>
                  <a:srgbClr val="1A355E"/>
                </a:solidFill>
              </a:rPr>
              <a:t>• Bayes' theorem: posterior ∝ likelihood × prior</a:t>
            </a:r>
          </a:p>
          <a:p>
            <a:pPr lvl="1">
              <a:spcBef>
                <a:spcPts val="200"/>
              </a:spcBef>
            </a:pPr>
            <a:r>
              <a:rPr sz="1600" b="0">
                <a:solidFill>
                  <a:srgbClr val="445566"/>
                </a:solidFill>
              </a:rPr>
              <a:t>  – The posterior is the answer — a full distribution, not a single number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Bayesian Inference — Credible Intervals vs Confidence Intervals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88952" cy="54864"/>
          </a:xfrm>
          <a:prstGeom prst="rect">
            <a:avLst/>
          </a:prstGeom>
          <a:solidFill>
            <a:srgbClr val="0D93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900" b="1">
                <a:solidFill>
                  <a:srgbClr val="1A355E"/>
                </a:solidFill>
              </a:rPr>
              <a:t>• Confidence interval (frequentist)</a:t>
            </a:r>
          </a:p>
          <a:p>
            <a:pPr lvl="1">
              <a:spcBef>
                <a:spcPts val="200"/>
              </a:spcBef>
            </a:pPr>
            <a:r>
              <a:rPr sz="1600" b="0">
                <a:solidFill>
                  <a:srgbClr val="445566"/>
                </a:solidFill>
              </a:rPr>
              <a:t>  – If we repeated the study many times, 95% of CIs would contain θ_true</a:t>
            </a:r>
          </a:p>
          <a:p>
            <a:pPr lvl="1">
              <a:spcBef>
                <a:spcPts val="200"/>
              </a:spcBef>
            </a:pPr>
            <a:r>
              <a:rPr sz="1600" b="0">
                <a:solidFill>
                  <a:srgbClr val="445566"/>
                </a:solidFill>
              </a:rPr>
              <a:t>  – Counterintuitive: does NOT mean 95% chance the true value is in this interval</a:t>
            </a:r>
          </a:p>
          <a:p>
            <a:pPr>
              <a:spcBef>
                <a:spcPts val="500"/>
              </a:spcBef>
            </a:pPr>
            <a:r>
              <a:rPr sz="1900" b="1">
                <a:solidFill>
                  <a:srgbClr val="1A355E"/>
                </a:solidFill>
              </a:rPr>
              <a:t>• Credible interval (Bayesian)</a:t>
            </a:r>
          </a:p>
          <a:p>
            <a:pPr lvl="1">
              <a:spcBef>
                <a:spcPts val="200"/>
              </a:spcBef>
            </a:pPr>
            <a:r>
              <a:rPr sz="1600" b="0">
                <a:solidFill>
                  <a:srgbClr val="445566"/>
                </a:solidFill>
              </a:rPr>
              <a:t>  – Given the data and our prior, there is a 95% probability θ lies in this range</a:t>
            </a:r>
          </a:p>
          <a:p>
            <a:pPr lvl="1">
              <a:spcBef>
                <a:spcPts val="200"/>
              </a:spcBef>
            </a:pPr>
            <a:r>
              <a:rPr sz="1600" b="0">
                <a:solidFill>
                  <a:srgbClr val="445566"/>
                </a:solidFill>
              </a:rPr>
              <a:t>  – Direct probability statement — the natural interpretation people expect</a:t>
            </a:r>
          </a:p>
          <a:p>
            <a:pPr>
              <a:spcBef>
                <a:spcPts val="500"/>
              </a:spcBef>
            </a:pPr>
            <a:r>
              <a:rPr sz="1900" b="1">
                <a:solidFill>
                  <a:srgbClr val="1A355E"/>
                </a:solidFill>
              </a:rPr>
              <a:t>• Prior choice matters</a:t>
            </a:r>
          </a:p>
          <a:p>
            <a:pPr lvl="1">
              <a:spcBef>
                <a:spcPts val="200"/>
              </a:spcBef>
            </a:pPr>
            <a:r>
              <a:rPr sz="1600" b="0">
                <a:solidFill>
                  <a:srgbClr val="445566"/>
                </a:solidFill>
              </a:rPr>
              <a:t>  – Uninformative prior → posterior ≈ likelihood → results similar to frequentist</a:t>
            </a:r>
          </a:p>
          <a:p>
            <a:pPr lvl="1">
              <a:spcBef>
                <a:spcPts val="200"/>
              </a:spcBef>
            </a:pPr>
            <a:r>
              <a:rPr sz="1600" b="0">
                <a:solidFill>
                  <a:srgbClr val="445566"/>
                </a:solidFill>
              </a:rPr>
              <a:t>  – Informative prior → pulls posterior toward prior beliefs (useful when data are sparse)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D93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560320"/>
            <a:ext cx="108813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A355E"/>
                </a:solidFill>
              </a:rPr>
              <a:t>Chapter 3.2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749039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2B6CB0"/>
                </a:solidFill>
              </a:rPr>
              <a:t>Hierarchical Bayes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Hierarchical Bayes — Extending Multilevel Models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88952" cy="54864"/>
          </a:xfrm>
          <a:prstGeom prst="rect">
            <a:avLst/>
          </a:prstGeom>
          <a:solidFill>
            <a:srgbClr val="0D93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900" b="1">
                <a:solidFill>
                  <a:srgbClr val="1A355E"/>
                </a:solidFill>
              </a:rPr>
              <a:t>• Multilevel model: β₀, β₁ are fixed unknowns; only uⱼ and εᵢⱼ are random</a:t>
            </a:r>
          </a:p>
          <a:p>
            <a:pPr>
              <a:spcBef>
                <a:spcPts val="500"/>
              </a:spcBef>
            </a:pPr>
            <a:r>
              <a:rPr sz="1900" b="1">
                <a:solidFill>
                  <a:srgbClr val="1A355E"/>
                </a:solidFill>
              </a:rPr>
              <a:t>• Hierarchical Bayes: everything is given a distribution — even β₀ and β₁</a:t>
            </a:r>
          </a:p>
          <a:p>
            <a:pPr>
              <a:spcBef>
                <a:spcPts val="500"/>
              </a:spcBef>
            </a:pPr>
            <a:r>
              <a:rPr sz="1900" b="1">
                <a:solidFill>
                  <a:srgbClr val="1A355E"/>
                </a:solidFill>
              </a:rPr>
              <a:t>• Same equation: yᵢⱼ = β₀ + uⱼ + β₁·timeᵢⱼ + εᵢⱼ</a:t>
            </a:r>
          </a:p>
          <a:p>
            <a:pPr lvl="1">
              <a:spcBef>
                <a:spcPts val="200"/>
              </a:spcBef>
            </a:pPr>
            <a:r>
              <a:rPr sz="1600" b="0">
                <a:solidFill>
                  <a:srgbClr val="445566"/>
                </a:solidFill>
              </a:rPr>
              <a:t>  – But now priors are placed on all parameters:</a:t>
            </a:r>
          </a:p>
          <a:p>
            <a:pPr lvl="1">
              <a:spcBef>
                <a:spcPts val="200"/>
              </a:spcBef>
            </a:pPr>
            <a:r>
              <a:rPr sz="1600" b="0">
                <a:solidFill>
                  <a:srgbClr val="445566"/>
                </a:solidFill>
              </a:rPr>
              <a:t>  – β₀, β₁ ~ Normal (usually centred near zero; wide enough to let data speak)</a:t>
            </a:r>
          </a:p>
          <a:p>
            <a:pPr lvl="1">
              <a:spcBef>
                <a:spcPts val="200"/>
              </a:spcBef>
            </a:pPr>
            <a:r>
              <a:rPr sz="1600" b="0">
                <a:solidFill>
                  <a:srgbClr val="445566"/>
                </a:solidFill>
              </a:rPr>
              <a:t>  – τ, σ ~ Half-t (must be positive; weakly informative)</a:t>
            </a:r>
          </a:p>
          <a:p>
            <a:pPr>
              <a:spcBef>
                <a:spcPts val="500"/>
              </a:spcBef>
            </a:pPr>
            <a:r>
              <a:rPr sz="1900" b="1">
                <a:solidFill>
                  <a:srgbClr val="1A355E"/>
                </a:solidFill>
              </a:rPr>
              <a:t>• Key insight: multilevel models already used a prior on uⱼ ~ N(0, τ²)</a:t>
            </a:r>
          </a:p>
          <a:p>
            <a:pPr lvl="1">
              <a:spcBef>
                <a:spcPts val="200"/>
              </a:spcBef>
            </a:pPr>
            <a:r>
              <a:rPr sz="1600" b="0">
                <a:solidFill>
                  <a:srgbClr val="445566"/>
                </a:solidFill>
              </a:rPr>
              <a:t>  – HB just extends that logic to the fixed effects too — fully probabilistic top to bottom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Hierarchical Bayes — Criterion &amp; Estimator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88952" cy="54864"/>
          </a:xfrm>
          <a:prstGeom prst="rect">
            <a:avLst/>
          </a:prstGeom>
          <a:solidFill>
            <a:srgbClr val="0D93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900" b="1">
                <a:solidFill>
                  <a:srgbClr val="1A355E"/>
                </a:solidFill>
              </a:rPr>
              <a:t>• No single number to minimise — goal is to characterise the full posterior</a:t>
            </a:r>
          </a:p>
          <a:p>
            <a:pPr lvl="1">
              <a:spcBef>
                <a:spcPts val="200"/>
              </a:spcBef>
            </a:pPr>
            <a:r>
              <a:rPr sz="1600" b="0">
                <a:solidFill>
                  <a:srgbClr val="445566"/>
                </a:solidFill>
              </a:rPr>
              <a:t>  – Posterior ∝ p(data | all params) × p(all params)</a:t>
            </a:r>
          </a:p>
          <a:p>
            <a:pPr lvl="1">
              <a:spcBef>
                <a:spcPts val="200"/>
              </a:spcBef>
            </a:pPr>
            <a:r>
              <a:rPr sz="1600" b="0">
                <a:solidFill>
                  <a:srgbClr val="445566"/>
                </a:solidFill>
              </a:rPr>
              <a:t>  – Every parameter gets a full posterior distribution</a:t>
            </a:r>
          </a:p>
          <a:p>
            <a:pPr>
              <a:spcBef>
                <a:spcPts val="500"/>
              </a:spcBef>
            </a:pPr>
            <a:r>
              <a:rPr sz="1900" b="1">
                <a:solidFill>
                  <a:srgbClr val="1A355E"/>
                </a:solidFill>
              </a:rPr>
              <a:t>• Point estimates: posterior mean or median (report when forced to give one number)</a:t>
            </a:r>
          </a:p>
          <a:p>
            <a:pPr>
              <a:spcBef>
                <a:spcPts val="500"/>
              </a:spcBef>
            </a:pPr>
            <a:r>
              <a:rPr sz="1900" b="1">
                <a:solidFill>
                  <a:srgbClr val="1A355E"/>
                </a:solidFill>
              </a:rPr>
              <a:t>• Uncertainty: 95% credible intervals — direct probability statements</a:t>
            </a:r>
          </a:p>
          <a:p>
            <a:pPr>
              <a:spcBef>
                <a:spcPts val="500"/>
              </a:spcBef>
            </a:pPr>
            <a:r>
              <a:rPr sz="1900" b="1">
                <a:solidFill>
                  <a:srgbClr val="1A355E"/>
                </a:solidFill>
              </a:rPr>
              <a:t>• Random effects uⱼ also get full posteriors with explicit shrinkage uncertainty</a:t>
            </a:r>
          </a:p>
          <a:p>
            <a:pPr lvl="1">
              <a:spcBef>
                <a:spcPts val="200"/>
              </a:spcBef>
            </a:pPr>
            <a:r>
              <a:rPr sz="1600" b="0">
                <a:solidFill>
                  <a:srgbClr val="445566"/>
                </a:solidFill>
              </a:rPr>
              <a:t>  – Shrinkage toward zero still applies — but now the uncertainty in that shrinkage is visible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Hierarchical Bayes — Solver (MCMC vs VI)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88952" cy="54864"/>
          </a:xfrm>
          <a:prstGeom prst="rect">
            <a:avLst/>
          </a:prstGeom>
          <a:solidFill>
            <a:srgbClr val="0D93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900" b="1">
                <a:solidFill>
                  <a:srgbClr val="1A355E"/>
                </a:solidFill>
              </a:rPr>
              <a:t>• The posterior is almost never available in closed form with a hierarchical model</a:t>
            </a:r>
          </a:p>
          <a:p>
            <a:pPr>
              <a:spcBef>
                <a:spcPts val="500"/>
              </a:spcBef>
            </a:pPr>
            <a:r>
              <a:rPr sz="1900" b="1">
                <a:solidFill>
                  <a:srgbClr val="1A355E"/>
                </a:solidFill>
              </a:rPr>
              <a:t>• Two main strategies</a:t>
            </a:r>
          </a:p>
          <a:p>
            <a:pPr lvl="1">
              <a:spcBef>
                <a:spcPts val="200"/>
              </a:spcBef>
            </a:pPr>
            <a:r>
              <a:rPr sz="1600" b="0">
                <a:solidFill>
                  <a:srgbClr val="445566"/>
                </a:solidFill>
              </a:rPr>
              <a:t>  – MCMC (Markov Chain Monte Carlo)</a:t>
            </a:r>
          </a:p>
          <a:p>
            <a:pPr lvl="1">
              <a:spcBef>
                <a:spcPts val="200"/>
              </a:spcBef>
            </a:pPr>
            <a:r>
              <a:rPr sz="1600" b="0">
                <a:solidFill>
                  <a:srgbClr val="445566"/>
                </a:solidFill>
              </a:rPr>
              <a:t>  – Draws samples from the posterior; given enough samples, arbitrarily accurate</a:t>
            </a:r>
          </a:p>
          <a:p>
            <a:pPr lvl="1">
              <a:spcBef>
                <a:spcPts val="200"/>
              </a:spcBef>
            </a:pPr>
            <a:r>
              <a:rPr sz="1600" b="0">
                <a:solidFill>
                  <a:srgbClr val="445566"/>
                </a:solidFill>
              </a:rPr>
              <a:t>  – Most common variant: NUTS (No-U-Turn Sampler) — used in brms/Stan</a:t>
            </a:r>
          </a:p>
          <a:p>
            <a:pPr lvl="1">
              <a:spcBef>
                <a:spcPts val="200"/>
              </a:spcBef>
            </a:pPr>
            <a:r>
              <a:rPr sz="1600" b="0">
                <a:solidFill>
                  <a:srgbClr val="445566"/>
                </a:solidFill>
              </a:rPr>
              <a:t>  – Expensive: can take minutes to hours for large datasets</a:t>
            </a:r>
          </a:p>
          <a:p>
            <a:pPr lvl="1">
              <a:spcBef>
                <a:spcPts val="200"/>
              </a:spcBef>
            </a:pPr>
            <a:r>
              <a:rPr sz="1600" b="0">
                <a:solidFill>
                  <a:srgbClr val="445566"/>
                </a:solidFill>
              </a:rPr>
              <a:t>  – Variational Inference (VI)</a:t>
            </a:r>
          </a:p>
          <a:p>
            <a:pPr lvl="1">
              <a:spcBef>
                <a:spcPts val="200"/>
              </a:spcBef>
            </a:pPr>
            <a:r>
              <a:rPr sz="1600" b="0">
                <a:solidFill>
                  <a:srgbClr val="445566"/>
                </a:solidFill>
              </a:rPr>
              <a:t>  – Approximates the posterior with a simpler distribution (e.g. normal)</a:t>
            </a:r>
          </a:p>
          <a:p>
            <a:pPr lvl="1">
              <a:spcBef>
                <a:spcPts val="200"/>
              </a:spcBef>
            </a:pPr>
            <a:r>
              <a:rPr sz="1600" b="0">
                <a:solidFill>
                  <a:srgbClr val="445566"/>
                </a:solidFill>
              </a:rPr>
              <a:t>  – Much faster, but introduces approximation bias</a:t>
            </a:r>
          </a:p>
          <a:p>
            <a:pPr lvl="1">
              <a:spcBef>
                <a:spcPts val="200"/>
              </a:spcBef>
            </a:pPr>
            <a:r>
              <a:rPr sz="1600" b="0">
                <a:solidFill>
                  <a:srgbClr val="445566"/>
                </a:solidFill>
              </a:rPr>
              <a:t>  – Use MCMC for trustworthy estimates; VI when speed matters and approximation is acceptable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Hierarchical Bayes — Practical Considerations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88952" cy="54864"/>
          </a:xfrm>
          <a:prstGeom prst="rect">
            <a:avLst/>
          </a:prstGeom>
          <a:solidFill>
            <a:srgbClr val="0D93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900" b="1">
                <a:solidFill>
                  <a:srgbClr val="1A355E"/>
                </a:solidFill>
              </a:rPr>
              <a:t>• Computational cost</a:t>
            </a:r>
          </a:p>
          <a:p>
            <a:pPr lvl="1">
              <a:spcBef>
                <a:spcPts val="200"/>
              </a:spcBef>
            </a:pPr>
            <a:r>
              <a:rPr sz="1600" b="0">
                <a:solidFill>
                  <a:srgbClr val="445566"/>
                </a:solidFill>
              </a:rPr>
              <a:t>  – MCMC can be slow; check convergence diagnostics (R̂ statistic, trace plots)</a:t>
            </a:r>
          </a:p>
          <a:p>
            <a:pPr lvl="1">
              <a:spcBef>
                <a:spcPts val="200"/>
              </a:spcBef>
            </a:pPr>
            <a:r>
              <a:rPr sz="1600" b="0">
                <a:solidFill>
                  <a:srgbClr val="445566"/>
                </a:solidFill>
              </a:rPr>
              <a:t>  – A sampler that has not converged produces garbage silently</a:t>
            </a:r>
          </a:p>
          <a:p>
            <a:pPr>
              <a:spcBef>
                <a:spcPts val="500"/>
              </a:spcBef>
            </a:pPr>
            <a:r>
              <a:rPr sz="1900" b="1">
                <a:solidFill>
                  <a:srgbClr val="1A355E"/>
                </a:solidFill>
              </a:rPr>
              <a:t>• Prior sensitivity</a:t>
            </a:r>
          </a:p>
          <a:p>
            <a:pPr lvl="1">
              <a:spcBef>
                <a:spcPts val="200"/>
              </a:spcBef>
            </a:pPr>
            <a:r>
              <a:rPr sz="1600" b="0">
                <a:solidFill>
                  <a:srgbClr val="445566"/>
                </a:solidFill>
              </a:rPr>
              <a:t>  – All priors influence the posterior; effect is larger with small samples</a:t>
            </a:r>
          </a:p>
          <a:p>
            <a:pPr lvl="1">
              <a:spcBef>
                <a:spcPts val="200"/>
              </a:spcBef>
            </a:pPr>
            <a:r>
              <a:rPr sz="1600" b="0">
                <a:solidFill>
                  <a:srgbClr val="445566"/>
                </a:solidFill>
              </a:rPr>
              <a:t>  – Best practice: run a sensitivity analysis with different priors</a:t>
            </a:r>
          </a:p>
          <a:p>
            <a:pPr>
              <a:spcBef>
                <a:spcPts val="500"/>
              </a:spcBef>
            </a:pPr>
            <a:r>
              <a:rPr sz="1900" b="1">
                <a:solidFill>
                  <a:srgbClr val="1A355E"/>
                </a:solidFill>
              </a:rPr>
              <a:t>• Same small-sample limitations as multilevel models</a:t>
            </a:r>
          </a:p>
          <a:p>
            <a:pPr lvl="1">
              <a:spcBef>
                <a:spcPts val="200"/>
              </a:spcBef>
            </a:pPr>
            <a:r>
              <a:rPr sz="1600" b="0">
                <a:solidFill>
                  <a:srgbClr val="445566"/>
                </a:solidFill>
              </a:rPr>
              <a:t>  – With very few children, posterior over τ will be wide and prior-dominated</a:t>
            </a:r>
          </a:p>
          <a:p>
            <a:pPr lvl="1">
              <a:spcBef>
                <a:spcPts val="200"/>
              </a:spcBef>
            </a:pPr>
            <a:r>
              <a:rPr sz="1600" b="0">
                <a:solidFill>
                  <a:srgbClr val="445566"/>
                </a:solidFill>
              </a:rPr>
              <a:t>  – More higher-level units (children, schools) always help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APCES Applied to Hierarchical Bayes — Summary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88952" cy="54864"/>
          </a:xfrm>
          <a:prstGeom prst="rect">
            <a:avLst/>
          </a:prstGeom>
          <a:solidFill>
            <a:srgbClr val="0D93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20040" y="1143000"/>
            <a:ext cx="2011680" cy="804672"/>
          </a:xfrm>
          <a:prstGeom prst="rect">
            <a:avLst/>
          </a:prstGeom>
          <a:solidFill>
            <a:srgbClr val="1A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331720" y="1143000"/>
            <a:ext cx="9418320" cy="804672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307592"/>
            <a:ext cx="18288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Architecture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68880" y="1252728"/>
            <a:ext cx="9189720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45566"/>
                </a:solidFill>
              </a:rPr>
              <a:t>yᵢⱼ = β₀ + uⱼ + β₁·timeᵢⱼ + εᵢⱼ, with priors on all parameters. Everything is random.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1947672"/>
            <a:ext cx="2011680" cy="8046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331720" y="1947672"/>
            <a:ext cx="9418320" cy="8046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" y="2112264"/>
            <a:ext cx="18288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B6CB0"/>
                </a:solidFill>
              </a:rPr>
              <a:t>Parameters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68880" y="2057400"/>
            <a:ext cx="9189720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45566"/>
                </a:solidFill>
              </a:rPr>
              <a:t>β₀, β₁, τ, σ, and all uⱼ — each is a posterior distribution, not a point estimate.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2752344"/>
            <a:ext cx="2011680" cy="804672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331720" y="2752344"/>
            <a:ext cx="9418320" cy="804672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1480" y="2916936"/>
            <a:ext cx="18288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B6CB0"/>
                </a:solidFill>
              </a:rPr>
              <a:t>Criterion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68880" y="2862072"/>
            <a:ext cx="9189720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45566"/>
                </a:solidFill>
              </a:rPr>
              <a:t>Characterise the full joint posterior: p(params | data) ∝ p(data | params) × p(params).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" y="3557016"/>
            <a:ext cx="2011680" cy="8046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331720" y="3557016"/>
            <a:ext cx="9418320" cy="8046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1480" y="3721608"/>
            <a:ext cx="18288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B6CB0"/>
                </a:solidFill>
              </a:rPr>
              <a:t>Estimator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468880" y="3666744"/>
            <a:ext cx="9189720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45566"/>
                </a:solidFill>
              </a:rPr>
              <a:t>Posterior mean/median as point estimate; 95% credible intervals for uncertainty.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" y="4361688"/>
            <a:ext cx="2011680" cy="804672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331720" y="4361688"/>
            <a:ext cx="9418320" cy="804672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11480" y="4526280"/>
            <a:ext cx="18288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B6CB0"/>
                </a:solidFill>
              </a:rPr>
              <a:t>Solver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468880" y="4471416"/>
            <a:ext cx="9189720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45566"/>
                </a:solidFill>
              </a:rPr>
              <a:t>MCMC (NUTS) for exact characterisation; Variational Inference for fast approximation. Both in brms (R).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D93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560320"/>
            <a:ext cx="108813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A355E"/>
                </a:solidFill>
              </a:rPr>
              <a:t>Putting It All Together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749039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2B6CB0"/>
                </a:solidFill>
              </a:rPr>
              <a:t>Comparing the Four Methods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Method Comparison at a Glance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88952" cy="54864"/>
          </a:xfrm>
          <a:prstGeom prst="rect">
            <a:avLst/>
          </a:prstGeom>
          <a:solidFill>
            <a:srgbClr val="0D93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900" b="1">
                <a:solidFill>
                  <a:srgbClr val="1A355E"/>
                </a:solidFill>
              </a:rPr>
              <a:t>• Naïve OLS</a:t>
            </a:r>
          </a:p>
          <a:p>
            <a:pPr lvl="1">
              <a:spcBef>
                <a:spcPts val="200"/>
              </a:spcBef>
            </a:pPr>
            <a:r>
              <a:rPr sz="1600" b="0">
                <a:solidFill>
                  <a:srgbClr val="445566"/>
                </a:solidFill>
              </a:rPr>
              <a:t>  – Use when: different people at each time point (no repeated measures)</a:t>
            </a:r>
          </a:p>
          <a:p>
            <a:pPr lvl="1">
              <a:spcBef>
                <a:spcPts val="200"/>
              </a:spcBef>
            </a:pPr>
            <a:r>
              <a:rPr sz="1600" b="0">
                <a:solidFill>
                  <a:srgbClr val="445566"/>
                </a:solidFill>
              </a:rPr>
              <a:t>  – Breaks when: same people measured multiple times — SEs are wrong</a:t>
            </a:r>
          </a:p>
          <a:p>
            <a:pPr>
              <a:spcBef>
                <a:spcPts val="500"/>
              </a:spcBef>
            </a:pPr>
            <a:r>
              <a:rPr sz="1900" b="1">
                <a:solidFill>
                  <a:srgbClr val="1A355E"/>
                </a:solidFill>
              </a:rPr>
              <a:t>• GLS</a:t>
            </a:r>
          </a:p>
          <a:p>
            <a:pPr lvl="1">
              <a:spcBef>
                <a:spcPts val="200"/>
              </a:spcBef>
            </a:pPr>
            <a:r>
              <a:rPr sz="1600" b="0">
                <a:solidFill>
                  <a:srgbClr val="445566"/>
                </a:solidFill>
              </a:rPr>
              <a:t>  – Use when: longitudinal data; you want to specify the correlation structure explicitly</a:t>
            </a:r>
          </a:p>
          <a:p>
            <a:pPr lvl="1">
              <a:spcBef>
                <a:spcPts val="200"/>
              </a:spcBef>
            </a:pPr>
            <a:r>
              <a:rPr sz="1600" b="0">
                <a:solidFill>
                  <a:srgbClr val="445566"/>
                </a:solidFill>
              </a:rPr>
              <a:t>  – Key decision: choosing the right Σ structure (CS, AR(1), unstructured)</a:t>
            </a:r>
          </a:p>
          <a:p>
            <a:pPr>
              <a:spcBef>
                <a:spcPts val="500"/>
              </a:spcBef>
            </a:pPr>
            <a:r>
              <a:rPr sz="1900" b="1">
                <a:solidFill>
                  <a:srgbClr val="1A355E"/>
                </a:solidFill>
              </a:rPr>
              <a:t>• Multilevel Models</a:t>
            </a:r>
          </a:p>
          <a:p>
            <a:pPr lvl="1">
              <a:spcBef>
                <a:spcPts val="200"/>
              </a:spcBef>
            </a:pPr>
            <a:r>
              <a:rPr sz="1600" b="0">
                <a:solidFill>
                  <a:srgbClr val="445566"/>
                </a:solidFill>
              </a:rPr>
              <a:t>  – Use when: longitudinal data; want to explain the source of correlation</a:t>
            </a:r>
          </a:p>
          <a:p>
            <a:pPr lvl="1">
              <a:spcBef>
                <a:spcPts val="200"/>
              </a:spcBef>
            </a:pPr>
            <a:r>
              <a:rPr sz="1600" b="0">
                <a:solidFill>
                  <a:srgbClr val="445566"/>
                </a:solidFill>
              </a:rPr>
              <a:t>  – Advantage: random effects, ICC, shrinkage — more interpretable variance decomposition</a:t>
            </a:r>
          </a:p>
          <a:p>
            <a:pPr>
              <a:spcBef>
                <a:spcPts val="500"/>
              </a:spcBef>
            </a:pPr>
            <a:r>
              <a:rPr sz="1900" b="1">
                <a:solidFill>
                  <a:srgbClr val="1A355E"/>
                </a:solidFill>
              </a:rPr>
              <a:t>• Hierarchical Bayes</a:t>
            </a:r>
          </a:p>
          <a:p>
            <a:pPr lvl="1">
              <a:spcBef>
                <a:spcPts val="200"/>
              </a:spcBef>
            </a:pPr>
            <a:r>
              <a:rPr sz="1600" b="0">
                <a:solidFill>
                  <a:srgbClr val="445566"/>
                </a:solidFill>
              </a:rPr>
              <a:t>  – Use when: you have prior knowledge to incorporate, or you want full uncertainty quantification</a:t>
            </a:r>
          </a:p>
          <a:p>
            <a:pPr lvl="1">
              <a:spcBef>
                <a:spcPts val="200"/>
              </a:spcBef>
            </a:pPr>
            <a:r>
              <a:rPr sz="1600" b="0">
                <a:solidFill>
                  <a:srgbClr val="445566"/>
                </a:solidFill>
              </a:rPr>
              <a:t>  – Trade-off: computational cost + need to justify prior choices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The Progressive Fix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88952" cy="54864"/>
          </a:xfrm>
          <a:prstGeom prst="rect">
            <a:avLst/>
          </a:prstGeom>
          <a:solidFill>
            <a:srgbClr val="0D93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900" b="1">
                <a:solidFill>
                  <a:srgbClr val="1A355E"/>
                </a:solidFill>
              </a:rPr>
              <a:t>• All methods share the same core equation: y = β₀ + β₁·time + ε</a:t>
            </a:r>
          </a:p>
          <a:p>
            <a:pPr lvl="1">
              <a:spcBef>
                <a:spcPts val="200"/>
              </a:spcBef>
            </a:pPr>
            <a:r>
              <a:rPr sz="1600" b="0">
                <a:solidFill>
                  <a:srgbClr val="445566"/>
                </a:solidFill>
              </a:rPr>
              <a:t>  – Each method is a more principled way of handling the same core problem:</a:t>
            </a:r>
          </a:p>
          <a:p>
            <a:pPr lvl="1">
              <a:spcBef>
                <a:spcPts val="200"/>
              </a:spcBef>
            </a:pPr>
            <a:r>
              <a:rPr sz="1600" b="0">
                <a:solidFill>
                  <a:srgbClr val="445566"/>
                </a:solidFill>
              </a:rPr>
              <a:t>  – Within-person correlation violates OLS's independence assumption</a:t>
            </a:r>
          </a:p>
          <a:p>
            <a:pPr>
              <a:spcBef>
                <a:spcPts val="500"/>
              </a:spcBef>
            </a:pPr>
            <a:r>
              <a:rPr sz="1900" b="1">
                <a:solidFill>
                  <a:srgbClr val="1A355E"/>
                </a:solidFill>
              </a:rPr>
              <a:t>• Step 1 → GLS: model the correlation structure directly</a:t>
            </a:r>
          </a:p>
          <a:p>
            <a:pPr>
              <a:spcBef>
                <a:spcPts val="500"/>
              </a:spcBef>
            </a:pPr>
            <a:r>
              <a:rPr sz="1900" b="1">
                <a:solidFill>
                  <a:srgbClr val="1A355E"/>
                </a:solidFill>
              </a:rPr>
              <a:t>• Step 2 → Multilevel: explain why the correlation exists (random effects)</a:t>
            </a:r>
          </a:p>
          <a:p>
            <a:pPr>
              <a:spcBef>
                <a:spcPts val="500"/>
              </a:spcBef>
            </a:pPr>
            <a:r>
              <a:rPr sz="1900" b="1">
                <a:solidFill>
                  <a:srgbClr val="1A355E"/>
                </a:solidFill>
              </a:rPr>
              <a:t>• Step 3 → Hierarchical Bayes: treat everything as uncertain — full probabilistic reasoning</a:t>
            </a:r>
          </a:p>
          <a:p>
            <a:pPr>
              <a:spcBef>
                <a:spcPts val="500"/>
              </a:spcBef>
            </a:pPr>
            <a:r>
              <a:rPr sz="1900" b="1">
                <a:solidFill>
                  <a:srgbClr val="1A355E"/>
                </a:solidFill>
              </a:rPr>
              <a:t>• The APCES framework lets you see exactly what changes at each step</a:t>
            </a:r>
          </a:p>
          <a:p>
            <a:pPr lvl="1">
              <a:spcBef>
                <a:spcPts val="200"/>
              </a:spcBef>
            </a:pPr>
            <a:r>
              <a:rPr sz="1600" b="0">
                <a:solidFill>
                  <a:srgbClr val="445566"/>
                </a:solidFill>
              </a:rPr>
              <a:t>  – Solver and architecture are the main things that shift — the estimator logic is preserved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Key Takeaways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88952" cy="54864"/>
          </a:xfrm>
          <a:prstGeom prst="rect">
            <a:avLst/>
          </a:prstGeom>
          <a:solidFill>
            <a:srgbClr val="0D93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900" b="1">
                <a:solidFill>
                  <a:srgbClr val="1A355E"/>
                </a:solidFill>
              </a:rPr>
              <a:t>• Longitudinal data violates OLS's independence assumption</a:t>
            </a:r>
          </a:p>
          <a:p>
            <a:pPr lvl="1">
              <a:spcBef>
                <a:spcPts val="200"/>
              </a:spcBef>
            </a:pPr>
            <a:r>
              <a:rPr sz="1600" b="0">
                <a:solidFill>
                  <a:srgbClr val="445566"/>
                </a:solidFill>
              </a:rPr>
              <a:t>  – The point estimate β̂₁ may still be reasonable, but standard errors are not</a:t>
            </a:r>
          </a:p>
          <a:p>
            <a:pPr>
              <a:spcBef>
                <a:spcPts val="500"/>
              </a:spcBef>
            </a:pPr>
            <a:r>
              <a:rPr sz="1900" b="1">
                <a:solidFill>
                  <a:srgbClr val="1A355E"/>
                </a:solidFill>
              </a:rPr>
              <a:t>• GLS fixes the SEs by modelling correlation explicitly — but you must pick a structure</a:t>
            </a:r>
          </a:p>
          <a:p>
            <a:pPr>
              <a:spcBef>
                <a:spcPts val="500"/>
              </a:spcBef>
            </a:pPr>
            <a:r>
              <a:rPr sz="1900" b="1">
                <a:solidFill>
                  <a:srgbClr val="1A355E"/>
                </a:solidFill>
              </a:rPr>
              <a:t>• Multilevel models do the same by modelling the source of correlation — more interpretable</a:t>
            </a:r>
          </a:p>
          <a:p>
            <a:pPr>
              <a:spcBef>
                <a:spcPts val="500"/>
              </a:spcBef>
            </a:pPr>
            <a:r>
              <a:rPr sz="1900" b="1">
                <a:solidFill>
                  <a:srgbClr val="1A355E"/>
                </a:solidFill>
              </a:rPr>
              <a:t>• Hierarchical Bayes extends MLM by treating all parameters as distributions</a:t>
            </a:r>
          </a:p>
          <a:p>
            <a:pPr>
              <a:spcBef>
                <a:spcPts val="500"/>
              </a:spcBef>
            </a:pPr>
            <a:r>
              <a:rPr sz="1900" b="1">
                <a:solidFill>
                  <a:srgbClr val="1A355E"/>
                </a:solidFill>
              </a:rPr>
              <a:t>• Choose your method based on your data structure, sample size, and inferential goals</a:t>
            </a:r>
          </a:p>
          <a:p>
            <a:pPr lvl="1">
              <a:spcBef>
                <a:spcPts val="200"/>
              </a:spcBef>
            </a:pPr>
            <a:r>
              <a:rPr sz="1600" b="0">
                <a:solidFill>
                  <a:srgbClr val="445566"/>
                </a:solidFill>
              </a:rPr>
              <a:t>  – The APCES framework is your map — any time you encounter a new method, ask:</a:t>
            </a:r>
          </a:p>
          <a:p>
            <a:pPr lvl="1">
              <a:spcBef>
                <a:spcPts val="200"/>
              </a:spcBef>
            </a:pPr>
            <a:r>
              <a:rPr sz="1600" b="0">
                <a:solidFill>
                  <a:srgbClr val="445566"/>
                </a:solidFill>
              </a:rPr>
              <a:t>  – What does the architecture assume? What does the criterion optimise? How does the solver work?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